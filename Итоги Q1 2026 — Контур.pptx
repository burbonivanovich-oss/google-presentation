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31"/>
    <p:sldId id="257" r:id="rId32"/>
    <p:sldId id="258" r:id="rId33"/>
    <p:sldId id="259" r:id="rId34"/>
    <p:sldId id="260" r:id="rId35"/>
    <p:sldId id="261" r:id="rId36"/>
    <p:sldId id="262" r:id="rId37"/>
    <p:sldId id="263" r:id="rId38"/>
    <p:sldId id="264" r:id="rId39"/>
    <p:sldId id="265" r:id="rId40"/>
    <p:sldId id="266" r:id="rId41"/>
    <p:sldId id="267" r:id="rId42"/>
    <p:sldId id="268" r:id="rId43"/>
    <p:sldId id="269" r:id="rId44"/>
    <p:sldId id="270" r:id="rId45"/>
    <p:sldId id="271" r:id="rId46"/>
  </p:sldIdLst>
  <p:sldSz cy="6858000" cx="12192000"/>
  <p:notesSz cx="6858000" cy="9144000"/>
  <p:embeddedFontLst>
    <p:embeddedFont>
      <p:font typeface="Montserrat SemiBold"/>
      <p:regular r:id="rId83"/>
      <p:bold r:id="rId84"/>
      <p:italic r:id="rId85"/>
      <p:boldItalic r:id="rId86"/>
    </p:embeddedFont>
    <p:embeddedFont>
      <p:font typeface="Montserrat"/>
      <p:regular r:id="rId87"/>
      <p:bold r:id="rId88"/>
      <p:italic r:id="rId89"/>
      <p:boldItalic r:id="rId90"/>
    </p:embeddedFont>
    <p:embeddedFont>
      <p:font typeface="Geologica Medium"/>
      <p:regular r:id="rId91"/>
      <p:bold r:id="rId92"/>
    </p:embeddedFont>
    <p:embeddedFont>
      <p:font typeface="Montserrat Medium"/>
      <p:regular r:id="rId93"/>
      <p:bold r:id="rId94"/>
      <p:italic r:id="rId95"/>
      <p:boldItalic r:id="rId96"/>
    </p:embeddedFont>
    <p:embeddedFont>
      <p:font typeface="Tahoma"/>
      <p:regular r:id="rId97"/>
      <p:bold r:id="rId98"/>
    </p:embeddedFont>
    <p:embeddedFont>
      <p:font typeface="Montserrat Light"/>
      <p:regular r:id="rId99"/>
      <p:bold r:id="rId100"/>
      <p:italic r:id="rId101"/>
      <p:boldItalic r:id="rId102"/>
    </p:embeddedFont>
    <p:embeddedFont>
      <p:font typeface="Geologica"/>
      <p:regular r:id="rId103"/>
      <p:bold r:id="rId104"/>
    </p:embeddedFont>
    <p:embeddedFont>
      <p:font typeface="Geologica Light"/>
      <p:regular r:id="rId105"/>
      <p:bold r:id="rId10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07" roundtripDataSignature="AMtx7mhkkw7CC3X4SKtyrjuMN+4L4akG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EF214A-4E6C-48F4-8E61-0A8840CC063F}">
  <a:tblStyle styleId="{14EF214A-4E6C-48F4-8E61-0A8840CC063F}" styleName="Table_0">
    <a:wholeTbl>
      <a:tcTxStyle b="off" i="off">
        <a:font>
          <a:latin typeface="Lab Grotesque K"/>
          <a:ea typeface="Lab Grotesque K"/>
          <a:cs typeface="Lab Grotesque K"/>
        </a:font>
        <a:srgbClr val="FEFFFE"/>
      </a:tcTxStyle>
      <a:tcStyle>
        <a:tcBdr>
          <a:lef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>
          <a:top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bottom>
        </a:tcBdr>
      </a:tcStyle>
    </a:band1H>
    <a:band2H>
      <a:tcTxStyle b="off" i="off"/>
    </a:band2H>
    <a:band1V>
      <a:tcTxStyle b="off" i="off"/>
      <a:tcStyle>
        <a:tcBdr>
          <a:lef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right>
        </a:tcBdr>
      </a:tcStyle>
    </a:band1V>
    <a:band2V>
      <a:tcTxStyle b="off" i="off"/>
      <a:tcStyle>
        <a:tcBdr>
          <a:lef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right>
        </a:tcBdr>
      </a:tcStyle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top>
        </a:tcBdr>
      </a:tcStyle>
    </a:lastRow>
    <a:seCell>
      <a:tcTxStyle b="off" i="off"/>
    </a:seCell>
    <a:swCell>
      <a:tcTxStyle b="off" i="off"/>
    </a:swCell>
    <a:firstRow>
      <a:tcTxStyle b="on" i="off">
        <a:font>
          <a:latin typeface="Lab Grotesque K"/>
          <a:ea typeface="Lab Grotesque K"/>
          <a:cs typeface="Lab Grotesque K"/>
        </a:font>
        <a:srgbClr val="000000"/>
      </a:tcTxStyle>
      <a:tcStyle>
        <a:fill>
          <a:solidFill>
            <a:srgbClr val="64D843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31" Type="http://schemas.openxmlformats.org/officeDocument/2006/relationships/slide" Target="slides/slide1.xml"/><Relationship Id="rId32" Type="http://schemas.openxmlformats.org/officeDocument/2006/relationships/slide" Target="slides/slide2.xml"/><Relationship Id="rId33" Type="http://schemas.openxmlformats.org/officeDocument/2006/relationships/slide" Target="slides/slide3.xml"/><Relationship Id="rId34" Type="http://schemas.openxmlformats.org/officeDocument/2006/relationships/slide" Target="slides/slide4.xml"/><Relationship Id="rId35" Type="http://schemas.openxmlformats.org/officeDocument/2006/relationships/slide" Target="slides/slide5.xml"/><Relationship Id="rId36" Type="http://schemas.openxmlformats.org/officeDocument/2006/relationships/slide" Target="slides/slide6.xml"/><Relationship Id="rId37" Type="http://schemas.openxmlformats.org/officeDocument/2006/relationships/slide" Target="slides/slide7.xml"/><Relationship Id="rId38" Type="http://schemas.openxmlformats.org/officeDocument/2006/relationships/slide" Target="slides/slide8.xml"/><Relationship Id="rId39" Type="http://schemas.openxmlformats.org/officeDocument/2006/relationships/slide" Target="slides/slide9.xml"/><Relationship Id="rId40" Type="http://schemas.openxmlformats.org/officeDocument/2006/relationships/slide" Target="slides/slide10.xml"/><Relationship Id="rId41" Type="http://schemas.openxmlformats.org/officeDocument/2006/relationships/slide" Target="slides/slide11.xml"/><Relationship Id="rId42" Type="http://schemas.openxmlformats.org/officeDocument/2006/relationships/slide" Target="slides/slide12.xml"/><Relationship Id="rId43" Type="http://schemas.openxmlformats.org/officeDocument/2006/relationships/slide" Target="slides/slide13.xml"/><Relationship Id="rId44" Type="http://schemas.openxmlformats.org/officeDocument/2006/relationships/slide" Target="slides/slide14.xml"/><Relationship Id="rId45" Type="http://schemas.openxmlformats.org/officeDocument/2006/relationships/slide" Target="slides/slide15.xml"/><Relationship Id="rId46" Type="http://schemas.openxmlformats.org/officeDocument/2006/relationships/slide" Target="slides/slide16.xml"/><Relationship Id="rId83" Type="http://schemas.openxmlformats.org/officeDocument/2006/relationships/font" Target="fonts/MontserratSemiBold-regular.fntdata"/><Relationship Id="rId84" Type="http://schemas.openxmlformats.org/officeDocument/2006/relationships/font" Target="fonts/MontserratSemiBold-bold.fntdata"/><Relationship Id="rId85" Type="http://schemas.openxmlformats.org/officeDocument/2006/relationships/font" Target="fonts/MontserratSemiBold-italic.fntdata"/><Relationship Id="rId86" Type="http://schemas.openxmlformats.org/officeDocument/2006/relationships/font" Target="fonts/MontserratSemiBold-boldItalic.fntdata"/><Relationship Id="rId87" Type="http://schemas.openxmlformats.org/officeDocument/2006/relationships/font" Target="fonts/Montserrat-regular.fntdata"/><Relationship Id="rId88" Type="http://schemas.openxmlformats.org/officeDocument/2006/relationships/font" Target="fonts/Montserrat-bold.fntdata"/><Relationship Id="rId89" Type="http://schemas.openxmlformats.org/officeDocument/2006/relationships/font" Target="fonts/Montserrat-italic.fntdata"/><Relationship Id="rId90" Type="http://schemas.openxmlformats.org/officeDocument/2006/relationships/font" Target="fonts/Montserrat-boldItalic.fntdata"/><Relationship Id="rId91" Type="http://schemas.openxmlformats.org/officeDocument/2006/relationships/font" Target="fonts/GeologicaMedium-regular.fntdata"/><Relationship Id="rId92" Type="http://schemas.openxmlformats.org/officeDocument/2006/relationships/font" Target="fonts/GeologicaMedium-bold.fntdata"/><Relationship Id="rId93" Type="http://schemas.openxmlformats.org/officeDocument/2006/relationships/font" Target="fonts/MontserratMedium-regular.fntdata"/><Relationship Id="rId94" Type="http://schemas.openxmlformats.org/officeDocument/2006/relationships/font" Target="fonts/MontserratMedium-bold.fntdata"/><Relationship Id="rId95" Type="http://schemas.openxmlformats.org/officeDocument/2006/relationships/font" Target="fonts/MontserratMedium-italic.fntdata"/><Relationship Id="rId96" Type="http://schemas.openxmlformats.org/officeDocument/2006/relationships/font" Target="fonts/MontserratMedium-boldItalic.fntdata"/><Relationship Id="rId97" Type="http://schemas.openxmlformats.org/officeDocument/2006/relationships/font" Target="fonts/Tahoma-regular.fntdata"/><Relationship Id="rId98" Type="http://schemas.openxmlformats.org/officeDocument/2006/relationships/font" Target="fonts/Tahoma-bold.fntdata"/><Relationship Id="rId99" Type="http://schemas.openxmlformats.org/officeDocument/2006/relationships/font" Target="fonts/MontserratLight-regular.fntdata"/><Relationship Id="rId100" Type="http://schemas.openxmlformats.org/officeDocument/2006/relationships/font" Target="fonts/MontserratLight-bold.fntdata"/><Relationship Id="rId101" Type="http://schemas.openxmlformats.org/officeDocument/2006/relationships/font" Target="fonts/MontserratLight-italic.fntdata"/><Relationship Id="rId102" Type="http://schemas.openxmlformats.org/officeDocument/2006/relationships/font" Target="fonts/MontserratLight-boldItalic.fntdata"/><Relationship Id="rId103" Type="http://schemas.openxmlformats.org/officeDocument/2006/relationships/font" Target="fonts/Geologica-regular.fntdata"/><Relationship Id="rId104" Type="http://schemas.openxmlformats.org/officeDocument/2006/relationships/font" Target="fonts/Geologica-bold.fntdata"/><Relationship Id="rId105" Type="http://schemas.openxmlformats.org/officeDocument/2006/relationships/font" Target="fonts/GeologicaLight-regular.fntdata"/><Relationship Id="rId106" Type="http://schemas.openxmlformats.org/officeDocument/2006/relationships/font" Target="fonts/GeologicaLight-bold.fntdata"/><Relationship Id="rId107" Type="http://customschemas.google.com/relationships/presentationmetadata" Target="meta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2C8D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Январь</c:v>
                </c:pt>
                <c:pt idx="1">
                  <c:v>Февраль</c:v>
                </c:pt>
                <c:pt idx="2">
                  <c:v>Март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22.33</c:v>
                </c:pt>
                <c:pt idx="1">
                  <c:v>24.75</c:v>
                </c:pt>
                <c:pt idx="2">
                  <c:v>27.47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53177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Январь</c:v>
                </c:pt>
                <c:pt idx="1">
                  <c:v>Февраль</c:v>
                </c:pt>
                <c:pt idx="2">
                  <c:v>Март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21.12</c:v>
                </c:pt>
                <c:pt idx="1">
                  <c:v>23.69</c:v>
                </c:pt>
                <c:pt idx="2">
                  <c:v>23.42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>
              <a:latin typeface="Montserrat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5A6573"/>
                </a:solidFill>
                <a:latin typeface="Montserrat"/>
              </a:rPr>
              <a:t>План vs факт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План, млн ₽</c:v>
                </c:pt>
              </c:strCache>
            </c:strRef>
          </c:tx>
          <c:spPr>
            <a:solidFill>
              <a:srgbClr val="C2C8D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Январь</c:v>
                </c:pt>
                <c:pt idx="1">
                  <c:v>Февраль</c:v>
                </c:pt>
                <c:pt idx="2">
                  <c:v>Март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22.33</c:v>
                </c:pt>
                <c:pt idx="1">
                  <c:v>24.75</c:v>
                </c:pt>
                <c:pt idx="2">
                  <c:v>27.47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Факт, млн ₽</c:v>
                </c:pt>
              </c:strCache>
            </c:strRef>
          </c:tx>
          <c:spPr>
            <a:solidFill>
              <a:srgbClr val="153177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Январь</c:v>
                </c:pt>
                <c:pt idx="1">
                  <c:v>Февраль</c:v>
                </c:pt>
                <c:pt idx="2">
                  <c:v>Март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21.12</c:v>
                </c:pt>
                <c:pt idx="1">
                  <c:v>23.69</c:v>
                </c:pt>
                <c:pt idx="2">
                  <c:v>23.42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>
              <a:latin typeface="Montserrat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</c:v>
                </c:pt>
              </c:strCache>
            </c:strRef>
          </c:tx>
          <c:spPr>
            <a:solidFill>
              <a:srgbClr val="2291FF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Январь</c:v>
                </c:pt>
                <c:pt idx="1">
                  <c:v>Февраль</c:v>
                </c:pt>
                <c:pt idx="2">
                  <c:v>Март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3.94</c:v>
                </c:pt>
                <c:pt idx="1">
                  <c:v>3.89</c:v>
                </c:pt>
                <c:pt idx="2">
                  <c:v>3.85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5A6573"/>
                </a:solidFill>
                <a:latin typeface="Montserrat"/>
              </a:rPr>
              <a:t>План / факт / прогноз, млн ₽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ln w="31750">
              <a:solidFill>
                <a:srgbClr val="C2C8D0"/>
              </a:solidFill>
            </a:ln>
          </c:spPr>
          <c:marker>
            <c:symbol val="circle"/>
            <c:size val="6"/>
            <c:spPr>
              <a:solidFill>
                <a:srgbClr val="C2C8D0"/>
              </a:solidFill>
              <a:ln>
                <a:solidFill>
                  <a:srgbClr val="C2C8D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9.78</c:v>
                </c:pt>
                <c:pt idx="1">
                  <c:v>9.46</c:v>
                </c:pt>
                <c:pt idx="2">
                  <c:v>10.98</c:v>
                </c:pt>
                <c:pt idx="3">
                  <c:v>10.45</c:v>
                </c:pt>
                <c:pt idx="4">
                  <c:v>8.36</c:v>
                </c:pt>
                <c:pt idx="5">
                  <c:v>10.32</c:v>
                </c:pt>
                <c:pt idx="6">
                  <c:v>10.13</c:v>
                </c:pt>
                <c:pt idx="7">
                  <c:v>9.01</c:v>
                </c:pt>
                <c:pt idx="8">
                  <c:v>8.79</c:v>
                </c:pt>
                <c:pt idx="9">
                  <c:v>9.95</c:v>
                </c:pt>
                <c:pt idx="10">
                  <c:v>9.71</c:v>
                </c:pt>
                <c:pt idx="11">
                  <c:v>12.1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ln w="38100">
              <a:solidFill>
                <a:srgbClr val="153177"/>
              </a:solidFill>
            </a:ln>
          </c:spPr>
          <c:marker>
            <c:symbol val="circle"/>
            <c:size val="6"/>
            <c:spPr>
              <a:solidFill>
                <a:srgbClr val="153177"/>
              </a:solidFill>
              <a:ln>
                <a:solidFill>
                  <a:srgbClr val="153177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8.24</c:v>
                </c:pt>
                <c:pt idx="1">
                  <c:v>9.2</c:v>
                </c:pt>
                <c:pt idx="2">
                  <c:v>10.26</c:v>
                </c:pt>
                <c:pt idx="3">
                  <c:v>8.99</c:v>
                </c:pt>
                <c:pt idx="4">
                  <c:v>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Прогноз</c:v>
                </c:pt>
              </c:strCache>
            </c:strRef>
          </c:tx>
          <c:spPr>
            <a:ln w="38100">
              <a:solidFill>
                <a:srgbClr val="FC7630"/>
              </a:solidFill>
              <a:prstDash val="lgDash"/>
            </a:ln>
          </c:spPr>
          <c:marker>
            <c:symbol val="circle"/>
            <c:size val="6"/>
            <c:spPr>
              <a:solidFill>
                <a:srgbClr val="FC7630"/>
              </a:solidFill>
              <a:ln>
                <a:solidFill>
                  <a:srgbClr val="FC763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4">
                  <c:v>7.78</c:v>
                </c:pt>
                <c:pt idx="5">
                  <c:v>9.1</c:v>
                </c:pt>
                <c:pt idx="6">
                  <c:v>8.4</c:v>
                </c:pt>
                <c:pt idx="7">
                  <c:v>7.2</c:v>
                </c:pt>
                <c:pt idx="8">
                  <c:v>7.6</c:v>
                </c:pt>
                <c:pt idx="9">
                  <c:v>7.8</c:v>
                </c:pt>
                <c:pt idx="10">
                  <c:v>7.4</c:v>
                </c:pt>
                <c:pt idx="11">
                  <c:v>9.9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latin typeface="Montserrat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5A6573"/>
                </a:solidFill>
                <a:latin typeface="Montserrat"/>
              </a:rPr>
              <a:t>План / факт / прогноз, млн ₽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ln w="31750">
              <a:solidFill>
                <a:srgbClr val="C2C8D0"/>
              </a:solidFill>
            </a:ln>
          </c:spPr>
          <c:marker>
            <c:symbol val="circle"/>
            <c:size val="6"/>
            <c:spPr>
              <a:solidFill>
                <a:srgbClr val="C2C8D0"/>
              </a:solidFill>
              <a:ln>
                <a:solidFill>
                  <a:srgbClr val="C2C8D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2.81</c:v>
                </c:pt>
                <c:pt idx="1">
                  <c:v>3.11</c:v>
                </c:pt>
                <c:pt idx="2">
                  <c:v>3.18</c:v>
                </c:pt>
                <c:pt idx="3">
                  <c:v>3.24</c:v>
                </c:pt>
                <c:pt idx="4">
                  <c:v>2.97</c:v>
                </c:pt>
                <c:pt idx="5">
                  <c:v>3.04</c:v>
                </c:pt>
                <c:pt idx="6">
                  <c:v>3.03</c:v>
                </c:pt>
                <c:pt idx="7">
                  <c:v>2.99</c:v>
                </c:pt>
                <c:pt idx="8">
                  <c:v>2.9</c:v>
                </c:pt>
                <c:pt idx="9">
                  <c:v>3.28</c:v>
                </c:pt>
                <c:pt idx="10">
                  <c:v>3.2</c:v>
                </c:pt>
                <c:pt idx="11">
                  <c:v>3.79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ln w="38100">
              <a:solidFill>
                <a:srgbClr val="153177"/>
              </a:solidFill>
            </a:ln>
          </c:spPr>
          <c:marker>
            <c:symbol val="circle"/>
            <c:size val="6"/>
            <c:spPr>
              <a:solidFill>
                <a:srgbClr val="153177"/>
              </a:solidFill>
              <a:ln>
                <a:solidFill>
                  <a:srgbClr val="153177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4.05</c:v>
                </c:pt>
                <c:pt idx="1">
                  <c:v>4.12</c:v>
                </c:pt>
                <c:pt idx="2">
                  <c:v>4.18</c:v>
                </c:pt>
                <c:pt idx="3">
                  <c:v>3.71</c:v>
                </c:pt>
                <c:pt idx="4">
                  <c:v>2.84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Прогноз</c:v>
                </c:pt>
              </c:strCache>
            </c:strRef>
          </c:tx>
          <c:spPr>
            <a:ln w="38100">
              <a:solidFill>
                <a:srgbClr val="FC7630"/>
              </a:solidFill>
              <a:prstDash val="lgDash"/>
            </a:ln>
          </c:spPr>
          <c:marker>
            <c:symbol val="circle"/>
            <c:size val="6"/>
            <c:spPr>
              <a:solidFill>
                <a:srgbClr val="FC7630"/>
              </a:solidFill>
              <a:ln>
                <a:solidFill>
                  <a:srgbClr val="FC763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4">
                  <c:v>2.84</c:v>
                </c:pt>
                <c:pt idx="5">
                  <c:v>3.6</c:v>
                </c:pt>
                <c:pt idx="6">
                  <c:v>3.4</c:v>
                </c:pt>
                <c:pt idx="7">
                  <c:v>3.1</c:v>
                </c:pt>
                <c:pt idx="8">
                  <c:v>3.1</c:v>
                </c:pt>
                <c:pt idx="9">
                  <c:v>3.4</c:v>
                </c:pt>
                <c:pt idx="10">
                  <c:v>3.2</c:v>
                </c:pt>
                <c:pt idx="11">
                  <c:v>4.5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latin typeface="Montserrat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5A6573"/>
                </a:solidFill>
                <a:latin typeface="Montserrat"/>
              </a:rPr>
              <a:t>Расход по месяцам, млн ₽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Расход, млн ₽</c:v>
                </c:pt>
              </c:strCache>
            </c:strRef>
          </c:tx>
          <c:spPr>
            <a:solidFill>
              <a:srgbClr val="2291FF"/>
            </a:solidFill>
            <a:ln>
              <a:noFill/>
            </a:ln>
          </c:spPr>
          <c:cat>
            <c:strRef>
              <c:f>Sheet1!$A$2:$A$19</c:f>
              <c:strCache>
                <c:ptCount val="18"/>
                <c:pt idx="0">
                  <c:v>я25</c:v>
                </c:pt>
                <c:pt idx="1">
                  <c:v>ф</c:v>
                </c:pt>
                <c:pt idx="2">
                  <c:v>м</c:v>
                </c:pt>
                <c:pt idx="3">
                  <c:v>а</c:v>
                </c:pt>
                <c:pt idx="4">
                  <c:v>м</c:v>
                </c:pt>
                <c:pt idx="5">
                  <c:v>и</c:v>
                </c:pt>
                <c:pt idx="6">
                  <c:v>и</c:v>
                </c:pt>
                <c:pt idx="7">
                  <c:v>а</c:v>
                </c:pt>
                <c:pt idx="8">
                  <c:v>с</c:v>
                </c:pt>
                <c:pt idx="9">
                  <c:v>о</c:v>
                </c:pt>
                <c:pt idx="10">
                  <c:v>н</c:v>
                </c:pt>
                <c:pt idx="11">
                  <c:v>д</c:v>
                </c:pt>
                <c:pt idx="12">
                  <c:v>я26</c:v>
                </c:pt>
                <c:pt idx="13">
                  <c:v>ф</c:v>
                </c:pt>
                <c:pt idx="14">
                  <c:v>м</c:v>
                </c:pt>
                <c:pt idx="15">
                  <c:v>а</c:v>
                </c:pt>
                <c:pt idx="16">
                  <c:v>м</c:v>
                </c:pt>
                <c:pt idx="17">
                  <c:v>и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1.43</c:v>
                </c:pt>
                <c:pt idx="1">
                  <c:v>1.46</c:v>
                </c:pt>
                <c:pt idx="2">
                  <c:v>1.29</c:v>
                </c:pt>
                <c:pt idx="3">
                  <c:v>1.65</c:v>
                </c:pt>
                <c:pt idx="4">
                  <c:v>1.14</c:v>
                </c:pt>
                <c:pt idx="5">
                  <c:v>0.89</c:v>
                </c:pt>
                <c:pt idx="6">
                  <c:v>0.68</c:v>
                </c:pt>
                <c:pt idx="7">
                  <c:v>0.47</c:v>
                </c:pt>
                <c:pt idx="8">
                  <c:v>0.62</c:v>
                </c:pt>
                <c:pt idx="9">
                  <c:v>0.83</c:v>
                </c:pt>
                <c:pt idx="10">
                  <c:v>0.75</c:v>
                </c:pt>
                <c:pt idx="11">
                  <c:v>0.64</c:v>
                </c:pt>
                <c:pt idx="12">
                  <c:v>0.57</c:v>
                </c:pt>
                <c:pt idx="13">
                  <c:v>0.56</c:v>
                </c:pt>
                <c:pt idx="14">
                  <c:v>0.7</c:v>
                </c:pt>
                <c:pt idx="15">
                  <c:v>0.45</c:v>
                </c:pt>
                <c:pt idx="16">
                  <c:v>0.47</c:v>
                </c:pt>
                <c:pt idx="17">
                  <c:v>0.13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5A6573"/>
                </a:solidFill>
                <a:latin typeface="Montserrat"/>
              </a:rPr>
              <a:t>CPL по месяцам, тыс ₽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CPL, тыс ₽</c:v>
                </c:pt>
              </c:strCache>
            </c:strRef>
          </c:tx>
          <c:spPr>
            <a:ln w="38100">
              <a:solidFill>
                <a:srgbClr val="2291FF"/>
              </a:solidFill>
            </a:ln>
          </c:spPr>
          <c:marker>
            <c:symbol val="circle"/>
            <c:size val="6"/>
            <c:spPr>
              <a:solidFill>
                <a:srgbClr val="2291FF"/>
              </a:solidFill>
              <a:ln>
                <a:solidFill>
                  <a:srgbClr val="2291FF"/>
                </a:solidFill>
              </a:ln>
            </c:spPr>
          </c:marker>
          <c:cat>
            <c:strRef>
              <c:f>Sheet1!$A$2:$A$19</c:f>
              <c:strCache>
                <c:ptCount val="18"/>
                <c:pt idx="0">
                  <c:v>я25</c:v>
                </c:pt>
                <c:pt idx="1">
                  <c:v>ф</c:v>
                </c:pt>
                <c:pt idx="2">
                  <c:v>м</c:v>
                </c:pt>
                <c:pt idx="3">
                  <c:v>а</c:v>
                </c:pt>
                <c:pt idx="4">
                  <c:v>м</c:v>
                </c:pt>
                <c:pt idx="5">
                  <c:v>и</c:v>
                </c:pt>
                <c:pt idx="6">
                  <c:v>и</c:v>
                </c:pt>
                <c:pt idx="7">
                  <c:v>а</c:v>
                </c:pt>
                <c:pt idx="8">
                  <c:v>с</c:v>
                </c:pt>
                <c:pt idx="9">
                  <c:v>о</c:v>
                </c:pt>
                <c:pt idx="10">
                  <c:v>н</c:v>
                </c:pt>
                <c:pt idx="11">
                  <c:v>д</c:v>
                </c:pt>
                <c:pt idx="12">
                  <c:v>я26</c:v>
                </c:pt>
                <c:pt idx="13">
                  <c:v>ф</c:v>
                </c:pt>
                <c:pt idx="14">
                  <c:v>м</c:v>
                </c:pt>
                <c:pt idx="15">
                  <c:v>а</c:v>
                </c:pt>
                <c:pt idx="16">
                  <c:v>м</c:v>
                </c:pt>
                <c:pt idx="17">
                  <c:v>и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16.2</c:v>
                </c:pt>
                <c:pt idx="1">
                  <c:v>14.3</c:v>
                </c:pt>
                <c:pt idx="2">
                  <c:v>14.7</c:v>
                </c:pt>
                <c:pt idx="3">
                  <c:v>13.0</c:v>
                </c:pt>
                <c:pt idx="4">
                  <c:v>9.7</c:v>
                </c:pt>
                <c:pt idx="5">
                  <c:v>8.5</c:v>
                </c:pt>
                <c:pt idx="6">
                  <c:v>6.6</c:v>
                </c:pt>
                <c:pt idx="7">
                  <c:v>8.4</c:v>
                </c:pt>
                <c:pt idx="8">
                  <c:v>8.2</c:v>
                </c:pt>
                <c:pt idx="9">
                  <c:v>11.0</c:v>
                </c:pt>
                <c:pt idx="10">
                  <c:v>11.2</c:v>
                </c:pt>
                <c:pt idx="11">
                  <c:v>9.7</c:v>
                </c:pt>
                <c:pt idx="12">
                  <c:v>7.7</c:v>
                </c:pt>
                <c:pt idx="13">
                  <c:v>9.7</c:v>
                </c:pt>
                <c:pt idx="14">
                  <c:v>10.5</c:v>
                </c:pt>
                <c:pt idx="15">
                  <c:v>6.0</c:v>
                </c:pt>
                <c:pt idx="16">
                  <c:v>4.5</c:v>
                </c:pt>
                <c:pt idx="17">
                  <c:v>4.6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latin typeface="Montserrat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5A6573"/>
                </a:solidFill>
                <a:latin typeface="Montserrat"/>
              </a:rPr>
              <a:t>Расход по месяцам, млн ₽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Расход, млн ₽</c:v>
                </c:pt>
              </c:strCache>
            </c:strRef>
          </c:tx>
          <c:spPr>
            <a:solidFill>
              <a:srgbClr val="2291FF"/>
            </a:solidFill>
            <a:ln>
              <a:noFill/>
            </a:ln>
          </c:spPr>
          <c:cat>
            <c:strRef>
              <c:f>Sheet1!$A$2:$A$19</c:f>
              <c:strCache>
                <c:ptCount val="18"/>
                <c:pt idx="0">
                  <c:v>я25</c:v>
                </c:pt>
                <c:pt idx="1">
                  <c:v>ф</c:v>
                </c:pt>
                <c:pt idx="2">
                  <c:v>м</c:v>
                </c:pt>
                <c:pt idx="3">
                  <c:v>а</c:v>
                </c:pt>
                <c:pt idx="4">
                  <c:v>м</c:v>
                </c:pt>
                <c:pt idx="5">
                  <c:v>и</c:v>
                </c:pt>
                <c:pt idx="6">
                  <c:v>и</c:v>
                </c:pt>
                <c:pt idx="7">
                  <c:v>а</c:v>
                </c:pt>
                <c:pt idx="8">
                  <c:v>с</c:v>
                </c:pt>
                <c:pt idx="9">
                  <c:v>о</c:v>
                </c:pt>
                <c:pt idx="10">
                  <c:v>н</c:v>
                </c:pt>
                <c:pt idx="11">
                  <c:v>д</c:v>
                </c:pt>
                <c:pt idx="12">
                  <c:v>я26</c:v>
                </c:pt>
                <c:pt idx="13">
                  <c:v>ф</c:v>
                </c:pt>
                <c:pt idx="14">
                  <c:v>м</c:v>
                </c:pt>
                <c:pt idx="15">
                  <c:v>а</c:v>
                </c:pt>
                <c:pt idx="16">
                  <c:v>м</c:v>
                </c:pt>
                <c:pt idx="17">
                  <c:v>и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0.35</c:v>
                </c:pt>
                <c:pt idx="1">
                  <c:v>0.42</c:v>
                </c:pt>
                <c:pt idx="2">
                  <c:v>0.46</c:v>
                </c:pt>
                <c:pt idx="3">
                  <c:v>0.59</c:v>
                </c:pt>
                <c:pt idx="4">
                  <c:v>0.52</c:v>
                </c:pt>
                <c:pt idx="5">
                  <c:v>0.43</c:v>
                </c:pt>
                <c:pt idx="6">
                  <c:v>0.36</c:v>
                </c:pt>
                <c:pt idx="7">
                  <c:v>0.37</c:v>
                </c:pt>
                <c:pt idx="8">
                  <c:v>0.41</c:v>
                </c:pt>
                <c:pt idx="9">
                  <c:v>0.46</c:v>
                </c:pt>
                <c:pt idx="10">
                  <c:v>0.43</c:v>
                </c:pt>
                <c:pt idx="11">
                  <c:v>0.39</c:v>
                </c:pt>
                <c:pt idx="12">
                  <c:v>0.42</c:v>
                </c:pt>
                <c:pt idx="13">
                  <c:v>0.39</c:v>
                </c:pt>
                <c:pt idx="14">
                  <c:v>0.42</c:v>
                </c:pt>
                <c:pt idx="15">
                  <c:v>0.39</c:v>
                </c:pt>
                <c:pt idx="16">
                  <c:v>0.26</c:v>
                </c:pt>
                <c:pt idx="17">
                  <c:v>0.05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5A6573"/>
                </a:solidFill>
                <a:latin typeface="Montserrat"/>
              </a:rPr>
              <a:t>CPL по месяцам, тыс ₽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CPL, тыс ₽</c:v>
                </c:pt>
              </c:strCache>
            </c:strRef>
          </c:tx>
          <c:spPr>
            <a:ln w="38100">
              <a:solidFill>
                <a:srgbClr val="2291FF"/>
              </a:solidFill>
            </a:ln>
          </c:spPr>
          <c:marker>
            <c:symbol val="circle"/>
            <c:size val="6"/>
            <c:spPr>
              <a:solidFill>
                <a:srgbClr val="2291FF"/>
              </a:solidFill>
              <a:ln>
                <a:solidFill>
                  <a:srgbClr val="2291FF"/>
                </a:solidFill>
              </a:ln>
            </c:spPr>
          </c:marker>
          <c:cat>
            <c:strRef>
              <c:f>Sheet1!$A$2:$A$19</c:f>
              <c:strCache>
                <c:ptCount val="18"/>
                <c:pt idx="0">
                  <c:v>я25</c:v>
                </c:pt>
                <c:pt idx="1">
                  <c:v>ф</c:v>
                </c:pt>
                <c:pt idx="2">
                  <c:v>м</c:v>
                </c:pt>
                <c:pt idx="3">
                  <c:v>а</c:v>
                </c:pt>
                <c:pt idx="4">
                  <c:v>м</c:v>
                </c:pt>
                <c:pt idx="5">
                  <c:v>и</c:v>
                </c:pt>
                <c:pt idx="6">
                  <c:v>и</c:v>
                </c:pt>
                <c:pt idx="7">
                  <c:v>а</c:v>
                </c:pt>
                <c:pt idx="8">
                  <c:v>с</c:v>
                </c:pt>
                <c:pt idx="9">
                  <c:v>о</c:v>
                </c:pt>
                <c:pt idx="10">
                  <c:v>н</c:v>
                </c:pt>
                <c:pt idx="11">
                  <c:v>д</c:v>
                </c:pt>
                <c:pt idx="12">
                  <c:v>я26</c:v>
                </c:pt>
                <c:pt idx="13">
                  <c:v>ф</c:v>
                </c:pt>
                <c:pt idx="14">
                  <c:v>м</c:v>
                </c:pt>
                <c:pt idx="15">
                  <c:v>а</c:v>
                </c:pt>
                <c:pt idx="16">
                  <c:v>м</c:v>
                </c:pt>
                <c:pt idx="17">
                  <c:v>и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2.6</c:v>
                </c:pt>
                <c:pt idx="1">
                  <c:v>4.1</c:v>
                </c:pt>
                <c:pt idx="2">
                  <c:v>5.0</c:v>
                </c:pt>
                <c:pt idx="3">
                  <c:v>8.6</c:v>
                </c:pt>
                <c:pt idx="4">
                  <c:v>10.1</c:v>
                </c:pt>
                <c:pt idx="5">
                  <c:v>9.3</c:v>
                </c:pt>
                <c:pt idx="6">
                  <c:v>4.7</c:v>
                </c:pt>
                <c:pt idx="7">
                  <c:v>4.7</c:v>
                </c:pt>
                <c:pt idx="8">
                  <c:v>4.6</c:v>
                </c:pt>
                <c:pt idx="9">
                  <c:v>5.2</c:v>
                </c:pt>
                <c:pt idx="10">
                  <c:v>5.0</c:v>
                </c:pt>
                <c:pt idx="11">
                  <c:v>3.9</c:v>
                </c:pt>
                <c:pt idx="12">
                  <c:v>3.5</c:v>
                </c:pt>
                <c:pt idx="13">
                  <c:v>3.5</c:v>
                </c:pt>
                <c:pt idx="14">
                  <c:v>3.6</c:v>
                </c:pt>
                <c:pt idx="15">
                  <c:v>3.2</c:v>
                </c:pt>
                <c:pt idx="16">
                  <c:v>4.0</c:v>
                </c:pt>
                <c:pt idx="17">
                  <c:v>1.9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latin typeface="Montserrat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тбивка_1">
  <p:cSld name="Отбивка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6"/>
          <p:cNvSpPr txBox="1"/>
          <p:nvPr>
            <p:ph type="title"/>
          </p:nvPr>
        </p:nvSpPr>
        <p:spPr>
          <a:xfrm>
            <a:off x="587375" y="584200"/>
            <a:ext cx="6118225" cy="5581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аблица">
  <p:cSld name="Таблица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80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овый">
  <p:cSld name="Текстовый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2"/>
          <p:cNvSpPr txBox="1"/>
          <p:nvPr>
            <p:ph idx="1" type="body"/>
          </p:nvPr>
        </p:nvSpPr>
        <p:spPr>
          <a:xfrm>
            <a:off x="587375" y="584200"/>
            <a:ext cx="11017250" cy="55816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1 строку + список">
  <p:cSld name="Заголовок в 1 строку + список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0"/>
          <p:cNvSpPr txBox="1"/>
          <p:nvPr>
            <p:ph idx="1" type="body"/>
          </p:nvPr>
        </p:nvSpPr>
        <p:spPr>
          <a:xfrm>
            <a:off x="587375" y="2528889"/>
            <a:ext cx="11017251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" name="Google Shape;23;p50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 2 колонки">
  <p:cSld name="Заголовок + текст 2 колонки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1"/>
          <p:cNvSpPr txBox="1"/>
          <p:nvPr>
            <p:ph idx="1" type="body"/>
          </p:nvPr>
        </p:nvSpPr>
        <p:spPr>
          <a:xfrm>
            <a:off x="587374" y="2528888"/>
            <a:ext cx="5220000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51"/>
          <p:cNvSpPr txBox="1"/>
          <p:nvPr>
            <p:ph idx="2" type="body"/>
          </p:nvPr>
        </p:nvSpPr>
        <p:spPr>
          <a:xfrm>
            <a:off x="6384624" y="2528888"/>
            <a:ext cx="5220000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51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лайд">
  <p:cSld name="Титул 3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67"/>
          <p:cNvSpPr txBox="1"/>
          <p:nvPr>
            <p:ph type="title"/>
          </p:nvPr>
        </p:nvSpPr>
        <p:spPr>
          <a:xfrm>
            <a:off x="594749" y="584200"/>
            <a:ext cx="7588468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31" name="Google Shape;31;p67"/>
          <p:cNvSpPr txBox="1"/>
          <p:nvPr>
            <p:ph idx="1" type="body"/>
          </p:nvPr>
        </p:nvSpPr>
        <p:spPr>
          <a:xfrm>
            <a:off x="8183217" y="5875893"/>
            <a:ext cx="3421408" cy="291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" name="Google Shape;32;p67"/>
          <p:cNvSpPr txBox="1"/>
          <p:nvPr>
            <p:ph idx="2" type="body"/>
          </p:nvPr>
        </p:nvSpPr>
        <p:spPr>
          <a:xfrm>
            <a:off x="594748" y="4218108"/>
            <a:ext cx="5400000" cy="348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" name="Google Shape;33;p67"/>
          <p:cNvSpPr txBox="1"/>
          <p:nvPr>
            <p:ph idx="3" type="body"/>
          </p:nvPr>
        </p:nvSpPr>
        <p:spPr>
          <a:xfrm>
            <a:off x="594748" y="4598572"/>
            <a:ext cx="5399999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4" name="Google Shape;34;p6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1">
  <p:cSld name="Титул 1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9"/>
          <p:cNvSpPr txBox="1"/>
          <p:nvPr>
            <p:ph type="title"/>
          </p:nvPr>
        </p:nvSpPr>
        <p:spPr>
          <a:xfrm>
            <a:off x="594749" y="584200"/>
            <a:ext cx="5400000" cy="3013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37" name="Google Shape;37;p49"/>
          <p:cNvSpPr txBox="1"/>
          <p:nvPr>
            <p:ph idx="1" type="body"/>
          </p:nvPr>
        </p:nvSpPr>
        <p:spPr>
          <a:xfrm>
            <a:off x="594748" y="4218108"/>
            <a:ext cx="5400000" cy="348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49"/>
          <p:cNvSpPr txBox="1"/>
          <p:nvPr>
            <p:ph idx="2" type="body"/>
          </p:nvPr>
        </p:nvSpPr>
        <p:spPr>
          <a:xfrm>
            <a:off x="594748" y="4598572"/>
            <a:ext cx="5399999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" name="Google Shape;39;p49"/>
          <p:cNvSpPr txBox="1"/>
          <p:nvPr>
            <p:ph idx="3" type="body"/>
          </p:nvPr>
        </p:nvSpPr>
        <p:spPr>
          <a:xfrm>
            <a:off x="8183217" y="5889341"/>
            <a:ext cx="3421408" cy="291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49"/>
          <p:cNvSpPr/>
          <p:nvPr/>
        </p:nvSpPr>
        <p:spPr>
          <a:xfrm>
            <a:off x="7105925" y="1143250"/>
            <a:ext cx="3959400" cy="39594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1"/>
              </a:solidFill>
              <a:latin typeface="Geologica Light"/>
              <a:ea typeface="Geologica Light"/>
              <a:cs typeface="Geologica Light"/>
              <a:sym typeface="Geologica Light"/>
            </a:endParaRPr>
          </a:p>
        </p:txBody>
      </p:sp>
      <p:sp>
        <p:nvSpPr>
          <p:cNvPr id="41" name="Google Shape;41;p49"/>
          <p:cNvSpPr/>
          <p:nvPr>
            <p:ph idx="4" type="pic"/>
          </p:nvPr>
        </p:nvSpPr>
        <p:spPr>
          <a:xfrm>
            <a:off x="7637939" y="604401"/>
            <a:ext cx="3959400" cy="3959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pic>
        <p:nvPicPr>
          <p:cNvPr id="42" name="Google Shape;42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3">
  <p:cSld name="Титул 2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2870f9e6fac_0_7"/>
          <p:cNvSpPr txBox="1"/>
          <p:nvPr>
            <p:ph type="title"/>
          </p:nvPr>
        </p:nvSpPr>
        <p:spPr>
          <a:xfrm>
            <a:off x="594749" y="584200"/>
            <a:ext cx="5400000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45" name="Google Shape;45;g2870f9e6fac_0_7"/>
          <p:cNvSpPr/>
          <p:nvPr>
            <p:ph idx="2" type="pic"/>
          </p:nvPr>
        </p:nvSpPr>
        <p:spPr>
          <a:xfrm>
            <a:off x="7098224" y="584200"/>
            <a:ext cx="4500000" cy="5581649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pic>
        <p:nvPicPr>
          <p:cNvPr id="46" name="Google Shape;46;g2870f9e6fac_0_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g2870f9e6fac_0_7"/>
          <p:cNvSpPr txBox="1"/>
          <p:nvPr>
            <p:ph idx="1" type="body"/>
          </p:nvPr>
        </p:nvSpPr>
        <p:spPr>
          <a:xfrm>
            <a:off x="594748" y="4218108"/>
            <a:ext cx="5400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g2870f9e6fac_0_7"/>
          <p:cNvSpPr txBox="1"/>
          <p:nvPr>
            <p:ph idx="3" type="body"/>
          </p:nvPr>
        </p:nvSpPr>
        <p:spPr>
          <a:xfrm>
            <a:off x="594748" y="4598572"/>
            <a:ext cx="5400000" cy="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1 строку + текст">
  <p:cSld name="Заголовок в 1 строку + текст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5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51" name="Google Shape;51;p55"/>
          <p:cNvSpPr txBox="1"/>
          <p:nvPr>
            <p:ph idx="1" type="body"/>
          </p:nvPr>
        </p:nvSpPr>
        <p:spPr>
          <a:xfrm>
            <a:off x="587375" y="2528888"/>
            <a:ext cx="11017251" cy="3636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рупный тезис">
  <p:cSld name="Крупный тезис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7"/>
          <p:cNvSpPr txBox="1"/>
          <p:nvPr>
            <p:ph idx="1" type="body"/>
          </p:nvPr>
        </p:nvSpPr>
        <p:spPr>
          <a:xfrm>
            <a:off x="587375" y="5075583"/>
            <a:ext cx="7200000" cy="109026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57"/>
          <p:cNvSpPr txBox="1"/>
          <p:nvPr>
            <p:ph type="title"/>
          </p:nvPr>
        </p:nvSpPr>
        <p:spPr>
          <a:xfrm>
            <a:off x="587375" y="584200"/>
            <a:ext cx="7200000" cy="36080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цифры крупно">
  <p:cSld name="2 цифры крупно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8"/>
          <p:cNvSpPr txBox="1"/>
          <p:nvPr>
            <p:ph idx="1" type="subTitle"/>
          </p:nvPr>
        </p:nvSpPr>
        <p:spPr>
          <a:xfrm>
            <a:off x="587375" y="4332747"/>
            <a:ext cx="4679284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57" name="Google Shape;57;p58"/>
          <p:cNvSpPr txBox="1"/>
          <p:nvPr>
            <p:ph idx="2" type="body"/>
          </p:nvPr>
        </p:nvSpPr>
        <p:spPr>
          <a:xfrm>
            <a:off x="587374" y="2882349"/>
            <a:ext cx="4679285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0"/>
              <a:buNone/>
              <a:defRPr b="1" sz="11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8" name="Google Shape;58;p58"/>
          <p:cNvSpPr txBox="1"/>
          <p:nvPr>
            <p:ph idx="3" type="body"/>
          </p:nvPr>
        </p:nvSpPr>
        <p:spPr>
          <a:xfrm>
            <a:off x="6116209" y="2882349"/>
            <a:ext cx="4679284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0"/>
              <a:buNone/>
              <a:defRPr b="1" sz="11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9" name="Google Shape;59;p58"/>
          <p:cNvSpPr txBox="1"/>
          <p:nvPr>
            <p:ph idx="4" type="body"/>
          </p:nvPr>
        </p:nvSpPr>
        <p:spPr>
          <a:xfrm>
            <a:off x="6116208" y="4332748"/>
            <a:ext cx="4679283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58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фактов">
  <p:cSld name="6 важных цифр 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63"/>
          <p:cNvSpPr txBox="1"/>
          <p:nvPr>
            <p:ph idx="1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63"/>
          <p:cNvSpPr txBox="1"/>
          <p:nvPr>
            <p:ph idx="2" type="body"/>
          </p:nvPr>
        </p:nvSpPr>
        <p:spPr>
          <a:xfrm>
            <a:off x="8148863" y="3809879"/>
            <a:ext cx="3239996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4" name="Google Shape;64;p63"/>
          <p:cNvSpPr txBox="1"/>
          <p:nvPr>
            <p:ph idx="3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63"/>
          <p:cNvSpPr txBox="1"/>
          <p:nvPr>
            <p:ph idx="4" type="body"/>
          </p:nvPr>
        </p:nvSpPr>
        <p:spPr>
          <a:xfrm>
            <a:off x="8148863" y="1382737"/>
            <a:ext cx="323999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6" name="Google Shape;66;p63"/>
          <p:cNvSpPr txBox="1"/>
          <p:nvPr>
            <p:ph type="title"/>
          </p:nvPr>
        </p:nvSpPr>
        <p:spPr>
          <a:xfrm>
            <a:off x="587375" y="584200"/>
            <a:ext cx="11017249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67" name="Google Shape;67;p63"/>
          <p:cNvSpPr txBox="1"/>
          <p:nvPr>
            <p:ph idx="5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63"/>
          <p:cNvSpPr txBox="1"/>
          <p:nvPr>
            <p:ph idx="6" type="body"/>
          </p:nvPr>
        </p:nvSpPr>
        <p:spPr>
          <a:xfrm>
            <a:off x="586012" y="1382737"/>
            <a:ext cx="3239999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69" name="Google Shape;69;p63"/>
          <p:cNvSpPr txBox="1"/>
          <p:nvPr>
            <p:ph idx="7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0" name="Google Shape;70;p63"/>
          <p:cNvSpPr txBox="1"/>
          <p:nvPr>
            <p:ph idx="8" type="body"/>
          </p:nvPr>
        </p:nvSpPr>
        <p:spPr>
          <a:xfrm>
            <a:off x="586013" y="3809879"/>
            <a:ext cx="323999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71" name="Google Shape;71;p63"/>
          <p:cNvSpPr txBox="1"/>
          <p:nvPr>
            <p:ph idx="9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63"/>
          <p:cNvSpPr txBox="1"/>
          <p:nvPr>
            <p:ph idx="13" type="body"/>
          </p:nvPr>
        </p:nvSpPr>
        <p:spPr>
          <a:xfrm>
            <a:off x="4376962" y="1382737"/>
            <a:ext cx="3239999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73" name="Google Shape;73;p63"/>
          <p:cNvSpPr txBox="1"/>
          <p:nvPr>
            <p:ph idx="14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63"/>
          <p:cNvSpPr txBox="1"/>
          <p:nvPr>
            <p:ph idx="15" type="body"/>
          </p:nvPr>
        </p:nvSpPr>
        <p:spPr>
          <a:xfrm>
            <a:off x="4376962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аймлайн">
  <p:cSld name="1_таймлайн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9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pic>
        <p:nvPicPr>
          <p:cNvPr id="77" name="Google Shape;77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66291" y="2966453"/>
            <a:ext cx="10838331" cy="729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акта">
  <p:cSld name="3 факта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0"/>
          <p:cNvSpPr txBox="1"/>
          <p:nvPr>
            <p:ph idx="1" type="body"/>
          </p:nvPr>
        </p:nvSpPr>
        <p:spPr>
          <a:xfrm>
            <a:off x="587375" y="3485314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0" name="Google Shape;80;p60"/>
          <p:cNvSpPr txBox="1"/>
          <p:nvPr>
            <p:ph idx="2" type="subTitle"/>
          </p:nvPr>
        </p:nvSpPr>
        <p:spPr>
          <a:xfrm>
            <a:off x="587375" y="4536369"/>
            <a:ext cx="2884941" cy="162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81" name="Google Shape;81;p60"/>
          <p:cNvSpPr txBox="1"/>
          <p:nvPr>
            <p:ph idx="3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60"/>
          <p:cNvSpPr txBox="1"/>
          <p:nvPr>
            <p:ph idx="4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60"/>
          <p:cNvSpPr txBox="1"/>
          <p:nvPr>
            <p:ph idx="5" type="body"/>
          </p:nvPr>
        </p:nvSpPr>
        <p:spPr>
          <a:xfrm>
            <a:off x="4195798" y="3489182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4" name="Google Shape;84;p60"/>
          <p:cNvSpPr txBox="1"/>
          <p:nvPr>
            <p:ph idx="6" type="body"/>
          </p:nvPr>
        </p:nvSpPr>
        <p:spPr>
          <a:xfrm>
            <a:off x="7804221" y="3489182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5" name="Google Shape;85;p60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фактов">
  <p:cSld name="5 фактов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62"/>
          <p:cNvSpPr txBox="1"/>
          <p:nvPr>
            <p:ph idx="1" type="body"/>
          </p:nvPr>
        </p:nvSpPr>
        <p:spPr>
          <a:xfrm>
            <a:off x="4362301" y="3533709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62"/>
          <p:cNvSpPr txBox="1"/>
          <p:nvPr>
            <p:ph idx="2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62"/>
          <p:cNvSpPr txBox="1"/>
          <p:nvPr>
            <p:ph idx="3" type="body"/>
          </p:nvPr>
        </p:nvSpPr>
        <p:spPr>
          <a:xfrm>
            <a:off x="4362302" y="2550355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0" name="Google Shape;90;p62"/>
          <p:cNvSpPr txBox="1"/>
          <p:nvPr>
            <p:ph idx="4" type="body"/>
          </p:nvPr>
        </p:nvSpPr>
        <p:spPr>
          <a:xfrm>
            <a:off x="8148863" y="3809879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1" name="Google Shape;91;p62"/>
          <p:cNvSpPr txBox="1"/>
          <p:nvPr>
            <p:ph idx="5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2" name="Google Shape;92;p62"/>
          <p:cNvSpPr txBox="1"/>
          <p:nvPr>
            <p:ph idx="6" type="body"/>
          </p:nvPr>
        </p:nvSpPr>
        <p:spPr>
          <a:xfrm>
            <a:off x="8148863" y="1382737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3" name="Google Shape;93;p62"/>
          <p:cNvSpPr txBox="1"/>
          <p:nvPr>
            <p:ph type="title"/>
          </p:nvPr>
        </p:nvSpPr>
        <p:spPr>
          <a:xfrm>
            <a:off x="587375" y="584200"/>
            <a:ext cx="11017249" cy="660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94" name="Google Shape;94;p62"/>
          <p:cNvSpPr txBox="1"/>
          <p:nvPr>
            <p:ph idx="7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62"/>
          <p:cNvSpPr txBox="1"/>
          <p:nvPr>
            <p:ph idx="8" type="body"/>
          </p:nvPr>
        </p:nvSpPr>
        <p:spPr>
          <a:xfrm>
            <a:off x="586013" y="1382737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6" name="Google Shape;96;p62"/>
          <p:cNvSpPr txBox="1"/>
          <p:nvPr>
            <p:ph idx="9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7" name="Google Shape;97;p62"/>
          <p:cNvSpPr txBox="1"/>
          <p:nvPr>
            <p:ph idx="13" type="body"/>
          </p:nvPr>
        </p:nvSpPr>
        <p:spPr>
          <a:xfrm>
            <a:off x="586013" y="3809879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 SemiBold"/>
              <a:buNone/>
              <a:defRPr sz="6000">
                <a:solidFill>
                  <a:schemeClr val="accen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иконки">
  <p:cSld name="3 иконки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64"/>
          <p:cNvSpPr txBox="1"/>
          <p:nvPr>
            <p:ph idx="1" type="subTitle"/>
          </p:nvPr>
        </p:nvSpPr>
        <p:spPr>
          <a:xfrm>
            <a:off x="587375" y="4536369"/>
            <a:ext cx="2884941" cy="162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00" name="Google Shape;100;p64"/>
          <p:cNvSpPr txBox="1"/>
          <p:nvPr>
            <p:ph idx="2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1" name="Google Shape;101;p64"/>
          <p:cNvSpPr txBox="1"/>
          <p:nvPr>
            <p:ph idx="3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2" name="Google Shape;102;p64"/>
          <p:cNvSpPr/>
          <p:nvPr>
            <p:ph idx="4" type="pic"/>
          </p:nvPr>
        </p:nvSpPr>
        <p:spPr>
          <a:xfrm>
            <a:off x="587375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64"/>
          <p:cNvSpPr/>
          <p:nvPr>
            <p:ph idx="5" type="pic"/>
          </p:nvPr>
        </p:nvSpPr>
        <p:spPr>
          <a:xfrm>
            <a:off x="4185341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64"/>
          <p:cNvSpPr/>
          <p:nvPr>
            <p:ph idx="6" type="pic"/>
          </p:nvPr>
        </p:nvSpPr>
        <p:spPr>
          <a:xfrm>
            <a:off x="7770054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64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иконки на слайде">
  <p:cSld name="4 иконки на слайде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5"/>
          <p:cNvSpPr txBox="1"/>
          <p:nvPr>
            <p:ph idx="1" type="body"/>
          </p:nvPr>
        </p:nvSpPr>
        <p:spPr>
          <a:xfrm>
            <a:off x="1378204" y="3089950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08" name="Google Shape;108;p65"/>
          <p:cNvSpPr/>
          <p:nvPr>
            <p:ph idx="2" type="pic"/>
          </p:nvPr>
        </p:nvSpPr>
        <p:spPr>
          <a:xfrm>
            <a:off x="587375" y="30899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65"/>
          <p:cNvSpPr txBox="1"/>
          <p:nvPr>
            <p:ph idx="3" type="body"/>
          </p:nvPr>
        </p:nvSpPr>
        <p:spPr>
          <a:xfrm>
            <a:off x="1378204" y="4647081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10" name="Google Shape;110;p65"/>
          <p:cNvSpPr/>
          <p:nvPr>
            <p:ph idx="4" type="pic"/>
          </p:nvPr>
        </p:nvSpPr>
        <p:spPr>
          <a:xfrm>
            <a:off x="587375" y="464708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1" name="Google Shape;111;p65"/>
          <p:cNvSpPr txBox="1"/>
          <p:nvPr>
            <p:ph idx="5" type="body"/>
          </p:nvPr>
        </p:nvSpPr>
        <p:spPr>
          <a:xfrm>
            <a:off x="1379533" y="5098643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2" name="Google Shape;112;p65"/>
          <p:cNvSpPr txBox="1"/>
          <p:nvPr>
            <p:ph idx="6" type="body"/>
          </p:nvPr>
        </p:nvSpPr>
        <p:spPr>
          <a:xfrm>
            <a:off x="7162778" y="3089950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13" name="Google Shape;113;p65"/>
          <p:cNvSpPr/>
          <p:nvPr>
            <p:ph idx="7" type="pic"/>
          </p:nvPr>
        </p:nvSpPr>
        <p:spPr>
          <a:xfrm>
            <a:off x="6371949" y="30899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65"/>
          <p:cNvSpPr txBox="1"/>
          <p:nvPr>
            <p:ph idx="8" type="body"/>
          </p:nvPr>
        </p:nvSpPr>
        <p:spPr>
          <a:xfrm>
            <a:off x="7162778" y="4647081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15" name="Google Shape;115;p65"/>
          <p:cNvSpPr/>
          <p:nvPr>
            <p:ph idx="9" type="pic"/>
          </p:nvPr>
        </p:nvSpPr>
        <p:spPr>
          <a:xfrm>
            <a:off x="6371949" y="464708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65"/>
          <p:cNvSpPr txBox="1"/>
          <p:nvPr>
            <p:ph idx="13" type="body"/>
          </p:nvPr>
        </p:nvSpPr>
        <p:spPr>
          <a:xfrm>
            <a:off x="7164107" y="509864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65"/>
          <p:cNvSpPr txBox="1"/>
          <p:nvPr>
            <p:ph idx="14" type="body"/>
          </p:nvPr>
        </p:nvSpPr>
        <p:spPr>
          <a:xfrm>
            <a:off x="7164107" y="3541015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65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9pPr>
          </a:lstStyle>
          <a:p/>
        </p:txBody>
      </p:sp>
      <p:sp>
        <p:nvSpPr>
          <p:cNvPr id="119" name="Google Shape;119;p65"/>
          <p:cNvSpPr txBox="1"/>
          <p:nvPr>
            <p:ph idx="15" type="body"/>
          </p:nvPr>
        </p:nvSpPr>
        <p:spPr>
          <a:xfrm>
            <a:off x="1375198" y="3541015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линейных иконок на слайде">
  <p:cSld name="6 иконок на слайде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6"/>
          <p:cNvSpPr/>
          <p:nvPr>
            <p:ph idx="2" type="pic"/>
          </p:nvPr>
        </p:nvSpPr>
        <p:spPr>
          <a:xfrm>
            <a:off x="587375" y="2904623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2" name="Google Shape;122;p66"/>
          <p:cNvSpPr/>
          <p:nvPr>
            <p:ph idx="3" type="pic"/>
          </p:nvPr>
        </p:nvSpPr>
        <p:spPr>
          <a:xfrm>
            <a:off x="587375" y="4242236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3" name="Google Shape;123;p66"/>
          <p:cNvSpPr txBox="1"/>
          <p:nvPr>
            <p:ph idx="1" type="body"/>
          </p:nvPr>
        </p:nvSpPr>
        <p:spPr>
          <a:xfrm>
            <a:off x="1379533" y="4242236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4" name="Google Shape;124;p66"/>
          <p:cNvSpPr/>
          <p:nvPr>
            <p:ph idx="4" type="pic"/>
          </p:nvPr>
        </p:nvSpPr>
        <p:spPr>
          <a:xfrm>
            <a:off x="6371949" y="2904623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66"/>
          <p:cNvSpPr/>
          <p:nvPr>
            <p:ph idx="5" type="pic"/>
          </p:nvPr>
        </p:nvSpPr>
        <p:spPr>
          <a:xfrm>
            <a:off x="6371949" y="4242236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6" name="Google Shape;126;p66"/>
          <p:cNvSpPr txBox="1"/>
          <p:nvPr>
            <p:ph idx="6" type="body"/>
          </p:nvPr>
        </p:nvSpPr>
        <p:spPr>
          <a:xfrm>
            <a:off x="7164107" y="4242236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66"/>
          <p:cNvSpPr txBox="1"/>
          <p:nvPr>
            <p:ph idx="7" type="body"/>
          </p:nvPr>
        </p:nvSpPr>
        <p:spPr>
          <a:xfrm>
            <a:off x="7164107" y="290462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66"/>
          <p:cNvSpPr/>
          <p:nvPr>
            <p:ph idx="8" type="pic"/>
          </p:nvPr>
        </p:nvSpPr>
        <p:spPr>
          <a:xfrm>
            <a:off x="587375" y="55562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66"/>
          <p:cNvSpPr txBox="1"/>
          <p:nvPr>
            <p:ph idx="9" type="body"/>
          </p:nvPr>
        </p:nvSpPr>
        <p:spPr>
          <a:xfrm>
            <a:off x="1379533" y="5556250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66"/>
          <p:cNvSpPr/>
          <p:nvPr>
            <p:ph idx="13" type="pic"/>
          </p:nvPr>
        </p:nvSpPr>
        <p:spPr>
          <a:xfrm>
            <a:off x="6371949" y="55562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31" name="Google Shape;131;p66"/>
          <p:cNvSpPr txBox="1"/>
          <p:nvPr>
            <p:ph idx="14" type="body"/>
          </p:nvPr>
        </p:nvSpPr>
        <p:spPr>
          <a:xfrm>
            <a:off x="7164107" y="5556250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66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Montserrat"/>
              <a:buNone/>
              <a:defRPr sz="50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33" name="Google Shape;133;p66"/>
          <p:cNvSpPr txBox="1"/>
          <p:nvPr>
            <p:ph idx="15" type="body"/>
          </p:nvPr>
        </p:nvSpPr>
        <p:spPr>
          <a:xfrm>
            <a:off x="1388949" y="290462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навылет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9"/>
          <p:cNvSpPr txBox="1"/>
          <p:nvPr>
            <p:ph idx="1" type="body"/>
          </p:nvPr>
        </p:nvSpPr>
        <p:spPr>
          <a:xfrm>
            <a:off x="587375" y="2528888"/>
            <a:ext cx="5940900" cy="362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69"/>
          <p:cNvSpPr/>
          <p:nvPr>
            <p:ph idx="2" type="pic"/>
          </p:nvPr>
        </p:nvSpPr>
        <p:spPr>
          <a:xfrm>
            <a:off x="7104624" y="0"/>
            <a:ext cx="5087375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137" name="Google Shape;137;p69"/>
          <p:cNvSpPr txBox="1"/>
          <p:nvPr>
            <p:ph type="title"/>
          </p:nvPr>
        </p:nvSpPr>
        <p:spPr>
          <a:xfrm>
            <a:off x="587375" y="584200"/>
            <a:ext cx="5941016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квадратное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02"/>
          <p:cNvSpPr txBox="1"/>
          <p:nvPr>
            <p:ph idx="1" type="body"/>
          </p:nvPr>
        </p:nvSpPr>
        <p:spPr>
          <a:xfrm>
            <a:off x="587375" y="2528888"/>
            <a:ext cx="4556997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102"/>
          <p:cNvSpPr txBox="1"/>
          <p:nvPr>
            <p:ph type="title"/>
          </p:nvPr>
        </p:nvSpPr>
        <p:spPr>
          <a:xfrm>
            <a:off x="587375" y="584200"/>
            <a:ext cx="4556998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102"/>
          <p:cNvSpPr/>
          <p:nvPr>
            <p:ph idx="2" type="pic"/>
          </p:nvPr>
        </p:nvSpPr>
        <p:spPr>
          <a:xfrm>
            <a:off x="6039748" y="584200"/>
            <a:ext cx="5564877" cy="5566433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в маске_3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03"/>
          <p:cNvSpPr txBox="1"/>
          <p:nvPr>
            <p:ph idx="1" type="body"/>
          </p:nvPr>
        </p:nvSpPr>
        <p:spPr>
          <a:xfrm>
            <a:off x="587375" y="2528888"/>
            <a:ext cx="5941015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103"/>
          <p:cNvSpPr txBox="1"/>
          <p:nvPr>
            <p:ph type="title"/>
          </p:nvPr>
        </p:nvSpPr>
        <p:spPr>
          <a:xfrm>
            <a:off x="587375" y="584200"/>
            <a:ext cx="5941016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145" name="Google Shape;145;p103"/>
          <p:cNvSpPr/>
          <p:nvPr>
            <p:ph idx="2" type="pic"/>
          </p:nvPr>
        </p:nvSpPr>
        <p:spPr>
          <a:xfrm>
            <a:off x="7464056" y="584200"/>
            <a:ext cx="4140569" cy="6273800"/>
          </a:xfrm>
          <a:prstGeom prst="round2SameRect">
            <a:avLst>
              <a:gd fmla="val 50000" name="adj1"/>
              <a:gd fmla="val 0" name="adj2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">
  <p:cSld name="3 фото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0"/>
          <p:cNvSpPr/>
          <p:nvPr>
            <p:ph idx="2" type="pic"/>
          </p:nvPr>
        </p:nvSpPr>
        <p:spPr>
          <a:xfrm>
            <a:off x="603401" y="59225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48" name="Google Shape;148;p70"/>
          <p:cNvSpPr/>
          <p:nvPr>
            <p:ph idx="3" type="pic"/>
          </p:nvPr>
        </p:nvSpPr>
        <p:spPr>
          <a:xfrm>
            <a:off x="4350001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49" name="Google Shape;149;p70"/>
          <p:cNvSpPr/>
          <p:nvPr>
            <p:ph idx="4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 1">
  <p:cSld name="2 фото_1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84d08330cf_0_11"/>
          <p:cNvSpPr/>
          <p:nvPr>
            <p:ph idx="2" type="pic"/>
          </p:nvPr>
        </p:nvSpPr>
        <p:spPr>
          <a:xfrm>
            <a:off x="603401" y="587376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52" name="Google Shape;152;g284d08330cf_0_11"/>
          <p:cNvSpPr/>
          <p:nvPr>
            <p:ph idx="3" type="pic"/>
          </p:nvPr>
        </p:nvSpPr>
        <p:spPr>
          <a:xfrm>
            <a:off x="4349750" y="587376"/>
            <a:ext cx="7238849" cy="5573700"/>
          </a:xfrm>
          <a:prstGeom prst="roundRect">
            <a:avLst>
              <a:gd fmla="val 10591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на весь слайд">
  <p:cSld name="Фото на весь слайд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1"/>
          <p:cNvSpPr/>
          <p:nvPr>
            <p:ph idx="2" type="pic"/>
          </p:nvPr>
        </p:nvSpPr>
        <p:spPr>
          <a:xfrm>
            <a:off x="0" y="0"/>
            <a:ext cx="12191999" cy="6857999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карточки факта">
  <p:cSld name="3 карточки факта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2"/>
          <p:cNvSpPr/>
          <p:nvPr/>
        </p:nvSpPr>
        <p:spPr>
          <a:xfrm>
            <a:off x="587375" y="2318038"/>
            <a:ext cx="3482820" cy="3847378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72"/>
          <p:cNvSpPr/>
          <p:nvPr/>
        </p:nvSpPr>
        <p:spPr>
          <a:xfrm>
            <a:off x="4359276" y="2318038"/>
            <a:ext cx="3482820" cy="3847378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2"/>
          <p:cNvSpPr/>
          <p:nvPr/>
        </p:nvSpPr>
        <p:spPr>
          <a:xfrm>
            <a:off x="8131176" y="2318038"/>
            <a:ext cx="3482820" cy="3847378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72"/>
          <p:cNvSpPr txBox="1"/>
          <p:nvPr>
            <p:ph idx="1" type="body"/>
          </p:nvPr>
        </p:nvSpPr>
        <p:spPr>
          <a:xfrm>
            <a:off x="879482" y="2533491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0" name="Google Shape;160;p72"/>
          <p:cNvSpPr txBox="1"/>
          <p:nvPr>
            <p:ph idx="2" type="body"/>
          </p:nvPr>
        </p:nvSpPr>
        <p:spPr>
          <a:xfrm>
            <a:off x="4645159" y="2533491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1" name="Google Shape;161;p72"/>
          <p:cNvSpPr txBox="1"/>
          <p:nvPr>
            <p:ph idx="3" type="body"/>
          </p:nvPr>
        </p:nvSpPr>
        <p:spPr>
          <a:xfrm>
            <a:off x="8399240" y="2530940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2" name="Google Shape;162;p72"/>
          <p:cNvSpPr txBox="1"/>
          <p:nvPr>
            <p:ph idx="4" type="subTitle"/>
          </p:nvPr>
        </p:nvSpPr>
        <p:spPr>
          <a:xfrm>
            <a:off x="879482" y="4218550"/>
            <a:ext cx="2893472" cy="16351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63" name="Google Shape;163;p72"/>
          <p:cNvSpPr txBox="1"/>
          <p:nvPr>
            <p:ph idx="5" type="body"/>
          </p:nvPr>
        </p:nvSpPr>
        <p:spPr>
          <a:xfrm>
            <a:off x="4649508" y="4217010"/>
            <a:ext cx="2868059" cy="1636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4" name="Google Shape;164;p72"/>
          <p:cNvSpPr txBox="1"/>
          <p:nvPr>
            <p:ph idx="6" type="body"/>
          </p:nvPr>
        </p:nvSpPr>
        <p:spPr>
          <a:xfrm>
            <a:off x="8419534" y="4217010"/>
            <a:ext cx="2868059" cy="1636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5" name="Google Shape;165;p72"/>
          <p:cNvSpPr txBox="1"/>
          <p:nvPr>
            <p:ph idx="7" type="body"/>
          </p:nvPr>
        </p:nvSpPr>
        <p:spPr>
          <a:xfrm>
            <a:off x="879482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6" name="Google Shape;166;p72"/>
          <p:cNvSpPr txBox="1"/>
          <p:nvPr>
            <p:ph idx="8" type="body"/>
          </p:nvPr>
        </p:nvSpPr>
        <p:spPr>
          <a:xfrm>
            <a:off x="4649509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7" name="Google Shape;167;p72"/>
          <p:cNvSpPr txBox="1"/>
          <p:nvPr>
            <p:ph idx="9" type="body"/>
          </p:nvPr>
        </p:nvSpPr>
        <p:spPr>
          <a:xfrm>
            <a:off x="8419535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8" name="Google Shape;168;p7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карточки факта">
  <p:cSld name="4 карточки факта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3"/>
          <p:cNvSpPr/>
          <p:nvPr/>
        </p:nvSpPr>
        <p:spPr>
          <a:xfrm>
            <a:off x="587375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73"/>
          <p:cNvSpPr/>
          <p:nvPr/>
        </p:nvSpPr>
        <p:spPr>
          <a:xfrm>
            <a:off x="587375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73"/>
          <p:cNvSpPr/>
          <p:nvPr/>
        </p:nvSpPr>
        <p:spPr>
          <a:xfrm>
            <a:off x="6235467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73"/>
          <p:cNvSpPr/>
          <p:nvPr/>
        </p:nvSpPr>
        <p:spPr>
          <a:xfrm>
            <a:off x="6235467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73"/>
          <p:cNvSpPr txBox="1"/>
          <p:nvPr>
            <p:ph idx="1" type="body"/>
          </p:nvPr>
        </p:nvSpPr>
        <p:spPr>
          <a:xfrm>
            <a:off x="917625" y="2528888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5" name="Google Shape;175;p73"/>
          <p:cNvSpPr txBox="1"/>
          <p:nvPr>
            <p:ph idx="2" type="body"/>
          </p:nvPr>
        </p:nvSpPr>
        <p:spPr>
          <a:xfrm>
            <a:off x="917625" y="4605025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6" name="Google Shape;176;p73"/>
          <p:cNvSpPr txBox="1"/>
          <p:nvPr>
            <p:ph idx="3" type="body"/>
          </p:nvPr>
        </p:nvSpPr>
        <p:spPr>
          <a:xfrm>
            <a:off x="6574122" y="4605025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7" name="Google Shape;177;p73"/>
          <p:cNvSpPr txBox="1"/>
          <p:nvPr>
            <p:ph idx="4" type="subTitle"/>
          </p:nvPr>
        </p:nvSpPr>
        <p:spPr>
          <a:xfrm>
            <a:off x="1716374" y="2528888"/>
            <a:ext cx="3851999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78" name="Google Shape;178;p73"/>
          <p:cNvSpPr txBox="1"/>
          <p:nvPr>
            <p:ph idx="5" type="body"/>
          </p:nvPr>
        </p:nvSpPr>
        <p:spPr>
          <a:xfrm>
            <a:off x="6574122" y="2528888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9" name="Google Shape;179;p73"/>
          <p:cNvSpPr txBox="1"/>
          <p:nvPr>
            <p:ph idx="6" type="body"/>
          </p:nvPr>
        </p:nvSpPr>
        <p:spPr>
          <a:xfrm>
            <a:off x="7360170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80" name="Google Shape;180;p73"/>
          <p:cNvSpPr txBox="1"/>
          <p:nvPr>
            <p:ph idx="7" type="body"/>
          </p:nvPr>
        </p:nvSpPr>
        <p:spPr>
          <a:xfrm>
            <a:off x="1716374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81" name="Google Shape;181;p73"/>
          <p:cNvSpPr txBox="1"/>
          <p:nvPr>
            <p:ph idx="8" type="body"/>
          </p:nvPr>
        </p:nvSpPr>
        <p:spPr>
          <a:xfrm>
            <a:off x="7360170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82" name="Google Shape;182;p73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факта классика">
  <p:cSld name="4 карточки факта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c1f89b903e_0_310"/>
          <p:cNvSpPr txBox="1"/>
          <p:nvPr>
            <p:ph idx="1" type="body"/>
          </p:nvPr>
        </p:nvSpPr>
        <p:spPr>
          <a:xfrm>
            <a:off x="587375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5" name="Google Shape;185;g2c1f89b903e_0_310"/>
          <p:cNvSpPr txBox="1"/>
          <p:nvPr>
            <p:ph idx="2" type="body"/>
          </p:nvPr>
        </p:nvSpPr>
        <p:spPr>
          <a:xfrm>
            <a:off x="587375" y="4605025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6" name="Google Shape;186;g2c1f89b903e_0_310"/>
          <p:cNvSpPr txBox="1"/>
          <p:nvPr>
            <p:ph idx="3" type="body"/>
          </p:nvPr>
        </p:nvSpPr>
        <p:spPr>
          <a:xfrm>
            <a:off x="6574122" y="4605025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7" name="Google Shape;187;g2c1f89b903e_0_310"/>
          <p:cNvSpPr txBox="1"/>
          <p:nvPr>
            <p:ph idx="4" type="subTitle"/>
          </p:nvPr>
        </p:nvSpPr>
        <p:spPr>
          <a:xfrm>
            <a:off x="1386124" y="2528888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8" name="Google Shape;188;g2c1f89b903e_0_310"/>
          <p:cNvSpPr txBox="1"/>
          <p:nvPr>
            <p:ph idx="5" type="body"/>
          </p:nvPr>
        </p:nvSpPr>
        <p:spPr>
          <a:xfrm>
            <a:off x="6574122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9" name="Google Shape;189;g2c1f89b903e_0_310"/>
          <p:cNvSpPr txBox="1"/>
          <p:nvPr>
            <p:ph idx="6" type="body"/>
          </p:nvPr>
        </p:nvSpPr>
        <p:spPr>
          <a:xfrm>
            <a:off x="7360170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90" name="Google Shape;190;g2c1f89b903e_0_310"/>
          <p:cNvSpPr txBox="1"/>
          <p:nvPr>
            <p:ph idx="7" type="body"/>
          </p:nvPr>
        </p:nvSpPr>
        <p:spPr>
          <a:xfrm>
            <a:off x="1386124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91" name="Google Shape;191;g2c1f89b903e_0_310"/>
          <p:cNvSpPr txBox="1"/>
          <p:nvPr>
            <p:ph idx="8" type="body"/>
          </p:nvPr>
        </p:nvSpPr>
        <p:spPr>
          <a:xfrm>
            <a:off x="7360170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92" name="Google Shape;192;g2c1f89b903e_0_310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карточки иконки">
  <p:cSld name="2 карточки иконки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84d08330cf_0_140"/>
          <p:cNvSpPr/>
          <p:nvPr/>
        </p:nvSpPr>
        <p:spPr>
          <a:xfrm>
            <a:off x="587375" y="2318038"/>
            <a:ext cx="5369160" cy="3847378"/>
          </a:xfrm>
          <a:prstGeom prst="roundRect">
            <a:avLst>
              <a:gd fmla="val 4556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g284d08330cf_0_140"/>
          <p:cNvSpPr/>
          <p:nvPr/>
        </p:nvSpPr>
        <p:spPr>
          <a:xfrm>
            <a:off x="6235467" y="2318038"/>
            <a:ext cx="5368533" cy="3847378"/>
          </a:xfrm>
          <a:prstGeom prst="roundRect">
            <a:avLst>
              <a:gd fmla="val 4556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g284d08330cf_0_140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197" name="Google Shape;197;g284d08330cf_0_140"/>
          <p:cNvSpPr txBox="1"/>
          <p:nvPr>
            <p:ph idx="1" type="subTitle"/>
          </p:nvPr>
        </p:nvSpPr>
        <p:spPr>
          <a:xfrm>
            <a:off x="1665318" y="2537225"/>
            <a:ext cx="3534300" cy="3249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98" name="Google Shape;198;g284d08330cf_0_140"/>
          <p:cNvSpPr txBox="1"/>
          <p:nvPr>
            <p:ph idx="2" type="body"/>
          </p:nvPr>
        </p:nvSpPr>
        <p:spPr>
          <a:xfrm>
            <a:off x="7299951" y="2536669"/>
            <a:ext cx="3567000" cy="3249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g284d08330cf_0_140"/>
          <p:cNvSpPr/>
          <p:nvPr>
            <p:ph idx="3" type="pic"/>
          </p:nvPr>
        </p:nvSpPr>
        <p:spPr>
          <a:xfrm>
            <a:off x="892225" y="2537225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0" name="Google Shape;200;g284d08330cf_0_140"/>
          <p:cNvSpPr/>
          <p:nvPr>
            <p:ph idx="4" type="pic"/>
          </p:nvPr>
        </p:nvSpPr>
        <p:spPr>
          <a:xfrm>
            <a:off x="6526844" y="2536669"/>
            <a:ext cx="540000" cy="540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карточки иконки">
  <p:cSld name="3 карточки иконки"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4"/>
          <p:cNvSpPr/>
          <p:nvPr/>
        </p:nvSpPr>
        <p:spPr>
          <a:xfrm>
            <a:off x="587375" y="2318038"/>
            <a:ext cx="3482700" cy="3847500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74"/>
          <p:cNvSpPr/>
          <p:nvPr/>
        </p:nvSpPr>
        <p:spPr>
          <a:xfrm>
            <a:off x="4359276" y="2318038"/>
            <a:ext cx="3482700" cy="3847500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74"/>
          <p:cNvSpPr/>
          <p:nvPr/>
        </p:nvSpPr>
        <p:spPr>
          <a:xfrm>
            <a:off x="8131176" y="2318038"/>
            <a:ext cx="3482700" cy="3847500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74"/>
          <p:cNvSpPr/>
          <p:nvPr>
            <p:ph idx="2" type="pic"/>
          </p:nvPr>
        </p:nvSpPr>
        <p:spPr>
          <a:xfrm>
            <a:off x="879482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6" name="Google Shape;206;p74"/>
          <p:cNvSpPr/>
          <p:nvPr>
            <p:ph idx="3" type="pic"/>
          </p:nvPr>
        </p:nvSpPr>
        <p:spPr>
          <a:xfrm>
            <a:off x="4649509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7" name="Google Shape;207;p74"/>
          <p:cNvSpPr/>
          <p:nvPr>
            <p:ph idx="4" type="pic"/>
          </p:nvPr>
        </p:nvSpPr>
        <p:spPr>
          <a:xfrm>
            <a:off x="8419535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8" name="Google Shape;208;p74"/>
          <p:cNvSpPr txBox="1"/>
          <p:nvPr>
            <p:ph idx="1" type="subTitle"/>
          </p:nvPr>
        </p:nvSpPr>
        <p:spPr>
          <a:xfrm>
            <a:off x="879482" y="4061618"/>
            <a:ext cx="2893500" cy="17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09" name="Google Shape;209;p74"/>
          <p:cNvSpPr txBox="1"/>
          <p:nvPr>
            <p:ph idx="5" type="body"/>
          </p:nvPr>
        </p:nvSpPr>
        <p:spPr>
          <a:xfrm>
            <a:off x="4649508" y="4059936"/>
            <a:ext cx="2868000" cy="17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0" name="Google Shape;210;p74"/>
          <p:cNvSpPr txBox="1"/>
          <p:nvPr>
            <p:ph idx="6" type="body"/>
          </p:nvPr>
        </p:nvSpPr>
        <p:spPr>
          <a:xfrm>
            <a:off x="8419534" y="4059936"/>
            <a:ext cx="2868000" cy="17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1" name="Google Shape;211;p74"/>
          <p:cNvSpPr txBox="1"/>
          <p:nvPr>
            <p:ph idx="7" type="body"/>
          </p:nvPr>
        </p:nvSpPr>
        <p:spPr>
          <a:xfrm>
            <a:off x="879482" y="3333381"/>
            <a:ext cx="2868059" cy="487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 SemiBold"/>
              <a:buNone/>
              <a:defRPr sz="16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12" name="Google Shape;212;p74"/>
          <p:cNvSpPr txBox="1"/>
          <p:nvPr>
            <p:ph idx="8" type="body"/>
          </p:nvPr>
        </p:nvSpPr>
        <p:spPr>
          <a:xfrm>
            <a:off x="4649509" y="3333381"/>
            <a:ext cx="2868000" cy="4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 SemiBold"/>
              <a:buNone/>
              <a:defRPr sz="16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13" name="Google Shape;213;p74"/>
          <p:cNvSpPr txBox="1"/>
          <p:nvPr>
            <p:ph idx="9" type="body"/>
          </p:nvPr>
        </p:nvSpPr>
        <p:spPr>
          <a:xfrm>
            <a:off x="8419535" y="3333381"/>
            <a:ext cx="2868000" cy="4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 SemiBold"/>
              <a:buNone/>
              <a:defRPr sz="16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14" name="Google Shape;214;p74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карточки иконки 1">
  <p:cSld name="4 карточки с иконками"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84d08330cf_0_162"/>
          <p:cNvSpPr/>
          <p:nvPr/>
        </p:nvSpPr>
        <p:spPr>
          <a:xfrm>
            <a:off x="587375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g284d08330cf_0_162"/>
          <p:cNvSpPr/>
          <p:nvPr/>
        </p:nvSpPr>
        <p:spPr>
          <a:xfrm>
            <a:off x="587375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g284d08330cf_0_162"/>
          <p:cNvSpPr/>
          <p:nvPr/>
        </p:nvSpPr>
        <p:spPr>
          <a:xfrm>
            <a:off x="6235467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g284d08330cf_0_162"/>
          <p:cNvSpPr/>
          <p:nvPr/>
        </p:nvSpPr>
        <p:spPr>
          <a:xfrm>
            <a:off x="6235467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g284d08330cf_0_16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21" name="Google Shape;221;g284d08330cf_0_162"/>
          <p:cNvSpPr txBox="1"/>
          <p:nvPr>
            <p:ph idx="1" type="subTitle"/>
          </p:nvPr>
        </p:nvSpPr>
        <p:spPr>
          <a:xfrm>
            <a:off x="1753849" y="2528888"/>
            <a:ext cx="3851999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2" name="Google Shape;222;g284d08330cf_0_162"/>
          <p:cNvSpPr txBox="1"/>
          <p:nvPr>
            <p:ph idx="2" type="body"/>
          </p:nvPr>
        </p:nvSpPr>
        <p:spPr>
          <a:xfrm>
            <a:off x="7397645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3" name="Google Shape;223;g284d08330cf_0_162"/>
          <p:cNvSpPr txBox="1"/>
          <p:nvPr>
            <p:ph idx="3" type="body"/>
          </p:nvPr>
        </p:nvSpPr>
        <p:spPr>
          <a:xfrm>
            <a:off x="7397645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4" name="Google Shape;224;g284d08330cf_0_162"/>
          <p:cNvSpPr txBox="1"/>
          <p:nvPr>
            <p:ph idx="4" type="body"/>
          </p:nvPr>
        </p:nvSpPr>
        <p:spPr>
          <a:xfrm>
            <a:off x="1753849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5" name="Google Shape;225;g284d08330cf_0_162"/>
          <p:cNvSpPr/>
          <p:nvPr>
            <p:ph idx="5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g284d08330cf_0_162"/>
          <p:cNvSpPr/>
          <p:nvPr>
            <p:ph idx="6" type="pic"/>
          </p:nvPr>
        </p:nvSpPr>
        <p:spPr>
          <a:xfrm>
            <a:off x="879482" y="458254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7" name="Google Shape;227;g284d08330cf_0_162"/>
          <p:cNvSpPr/>
          <p:nvPr>
            <p:ph idx="7" type="pic"/>
          </p:nvPr>
        </p:nvSpPr>
        <p:spPr>
          <a:xfrm>
            <a:off x="6523279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g284d08330cf_0_162"/>
          <p:cNvSpPr/>
          <p:nvPr>
            <p:ph idx="8" type="pic"/>
          </p:nvPr>
        </p:nvSpPr>
        <p:spPr>
          <a:xfrm>
            <a:off x="6523279" y="4590035"/>
            <a:ext cx="540000" cy="540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карточек">
  <p:cSld name="5 карточек с иконками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75"/>
          <p:cNvSpPr/>
          <p:nvPr/>
        </p:nvSpPr>
        <p:spPr>
          <a:xfrm>
            <a:off x="587375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75"/>
          <p:cNvSpPr/>
          <p:nvPr/>
        </p:nvSpPr>
        <p:spPr>
          <a:xfrm>
            <a:off x="8115814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75"/>
          <p:cNvSpPr/>
          <p:nvPr/>
        </p:nvSpPr>
        <p:spPr>
          <a:xfrm>
            <a:off x="8115814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75"/>
          <p:cNvSpPr/>
          <p:nvPr/>
        </p:nvSpPr>
        <p:spPr>
          <a:xfrm>
            <a:off x="587375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75"/>
          <p:cNvSpPr/>
          <p:nvPr/>
        </p:nvSpPr>
        <p:spPr>
          <a:xfrm>
            <a:off x="4352181" y="2314322"/>
            <a:ext cx="3489512" cy="3851528"/>
          </a:xfrm>
          <a:prstGeom prst="roundRect">
            <a:avLst>
              <a:gd fmla="val 4368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75"/>
          <p:cNvSpPr txBox="1"/>
          <p:nvPr>
            <p:ph type="title"/>
          </p:nvPr>
        </p:nvSpPr>
        <p:spPr>
          <a:xfrm>
            <a:off x="587375" y="584200"/>
            <a:ext cx="11017249" cy="6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36" name="Google Shape;236;p75"/>
          <p:cNvSpPr txBox="1"/>
          <p:nvPr>
            <p:ph idx="1" type="body"/>
          </p:nvPr>
        </p:nvSpPr>
        <p:spPr>
          <a:xfrm>
            <a:off x="879481" y="5310750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7" name="Google Shape;237;p75"/>
          <p:cNvSpPr txBox="1"/>
          <p:nvPr>
            <p:ph idx="2" type="body"/>
          </p:nvPr>
        </p:nvSpPr>
        <p:spPr>
          <a:xfrm>
            <a:off x="8329593" y="5310750"/>
            <a:ext cx="28440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8" name="Google Shape;238;p75"/>
          <p:cNvSpPr txBox="1"/>
          <p:nvPr>
            <p:ph idx="3" type="body"/>
          </p:nvPr>
        </p:nvSpPr>
        <p:spPr>
          <a:xfrm>
            <a:off x="4612033" y="3270225"/>
            <a:ext cx="2844000" cy="26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9" name="Google Shape;239;p75"/>
          <p:cNvSpPr txBox="1"/>
          <p:nvPr>
            <p:ph idx="4" type="body"/>
          </p:nvPr>
        </p:nvSpPr>
        <p:spPr>
          <a:xfrm>
            <a:off x="8329592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0" name="Google Shape;240;p75"/>
          <p:cNvSpPr/>
          <p:nvPr>
            <p:ph idx="5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75"/>
          <p:cNvSpPr/>
          <p:nvPr>
            <p:ph idx="6" type="pic"/>
          </p:nvPr>
        </p:nvSpPr>
        <p:spPr>
          <a:xfrm>
            <a:off x="879482" y="459753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75"/>
          <p:cNvSpPr/>
          <p:nvPr>
            <p:ph idx="7" type="pic"/>
          </p:nvPr>
        </p:nvSpPr>
        <p:spPr>
          <a:xfrm>
            <a:off x="4612033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3" name="Google Shape;243;p75"/>
          <p:cNvSpPr/>
          <p:nvPr>
            <p:ph idx="8" type="pic"/>
          </p:nvPr>
        </p:nvSpPr>
        <p:spPr>
          <a:xfrm>
            <a:off x="8329594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4" name="Google Shape;244;p75"/>
          <p:cNvSpPr/>
          <p:nvPr>
            <p:ph idx="9" type="pic"/>
          </p:nvPr>
        </p:nvSpPr>
        <p:spPr>
          <a:xfrm>
            <a:off x="8329594" y="459753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5" name="Google Shape;245;p75"/>
          <p:cNvSpPr txBox="1"/>
          <p:nvPr>
            <p:ph idx="13" type="body"/>
          </p:nvPr>
        </p:nvSpPr>
        <p:spPr>
          <a:xfrm>
            <a:off x="879481" y="3261944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карточек 1">
  <p:cSld name="6 карточек с иконками"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84d08330cf_0_50"/>
          <p:cNvSpPr/>
          <p:nvPr/>
        </p:nvSpPr>
        <p:spPr>
          <a:xfrm>
            <a:off x="587375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g284d08330cf_0_50"/>
          <p:cNvSpPr/>
          <p:nvPr/>
        </p:nvSpPr>
        <p:spPr>
          <a:xfrm>
            <a:off x="4352181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g284d08330cf_0_50"/>
          <p:cNvSpPr/>
          <p:nvPr/>
        </p:nvSpPr>
        <p:spPr>
          <a:xfrm>
            <a:off x="8115814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g284d08330cf_0_50"/>
          <p:cNvSpPr/>
          <p:nvPr/>
        </p:nvSpPr>
        <p:spPr>
          <a:xfrm>
            <a:off x="8115814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g284d08330cf_0_50"/>
          <p:cNvSpPr/>
          <p:nvPr/>
        </p:nvSpPr>
        <p:spPr>
          <a:xfrm>
            <a:off x="587375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g284d08330cf_0_50"/>
          <p:cNvSpPr/>
          <p:nvPr/>
        </p:nvSpPr>
        <p:spPr>
          <a:xfrm>
            <a:off x="4352181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g284d08330cf_0_50"/>
          <p:cNvSpPr/>
          <p:nvPr>
            <p:ph idx="2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4" name="Google Shape;254;g284d08330cf_0_50"/>
          <p:cNvSpPr/>
          <p:nvPr>
            <p:ph idx="3" type="pic"/>
          </p:nvPr>
        </p:nvSpPr>
        <p:spPr>
          <a:xfrm>
            <a:off x="4612033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5" name="Google Shape;255;g284d08330cf_0_50"/>
          <p:cNvSpPr/>
          <p:nvPr>
            <p:ph idx="4" type="pic"/>
          </p:nvPr>
        </p:nvSpPr>
        <p:spPr>
          <a:xfrm>
            <a:off x="8329594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6" name="Google Shape;256;g284d08330cf_0_50"/>
          <p:cNvSpPr txBox="1"/>
          <p:nvPr>
            <p:ph idx="1" type="body"/>
          </p:nvPr>
        </p:nvSpPr>
        <p:spPr>
          <a:xfrm>
            <a:off x="8329592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7" name="Google Shape;257;g284d08330cf_0_50"/>
          <p:cNvSpPr txBox="1"/>
          <p:nvPr>
            <p:ph idx="5" type="body"/>
          </p:nvPr>
        </p:nvSpPr>
        <p:spPr>
          <a:xfrm>
            <a:off x="4612031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8" name="Google Shape;258;g284d08330cf_0_50"/>
          <p:cNvSpPr/>
          <p:nvPr>
            <p:ph idx="6" type="pic"/>
          </p:nvPr>
        </p:nvSpPr>
        <p:spPr>
          <a:xfrm>
            <a:off x="879482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g284d08330cf_0_50"/>
          <p:cNvSpPr/>
          <p:nvPr>
            <p:ph idx="7" type="pic"/>
          </p:nvPr>
        </p:nvSpPr>
        <p:spPr>
          <a:xfrm>
            <a:off x="4612033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60" name="Google Shape;260;g284d08330cf_0_50"/>
          <p:cNvSpPr/>
          <p:nvPr>
            <p:ph idx="8" type="pic"/>
          </p:nvPr>
        </p:nvSpPr>
        <p:spPr>
          <a:xfrm>
            <a:off x="8329594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g284d08330cf_0_50"/>
          <p:cNvSpPr txBox="1"/>
          <p:nvPr>
            <p:ph idx="9" type="body"/>
          </p:nvPr>
        </p:nvSpPr>
        <p:spPr>
          <a:xfrm>
            <a:off x="8329592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2" name="Google Shape;262;g284d08330cf_0_50"/>
          <p:cNvSpPr txBox="1"/>
          <p:nvPr>
            <p:ph idx="13" type="body"/>
          </p:nvPr>
        </p:nvSpPr>
        <p:spPr>
          <a:xfrm>
            <a:off x="879480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3" name="Google Shape;263;g284d08330cf_0_50"/>
          <p:cNvSpPr txBox="1"/>
          <p:nvPr>
            <p:ph idx="14" type="body"/>
          </p:nvPr>
        </p:nvSpPr>
        <p:spPr>
          <a:xfrm>
            <a:off x="4612031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4" name="Google Shape;264;g284d08330cf_0_50"/>
          <p:cNvSpPr txBox="1"/>
          <p:nvPr>
            <p:ph idx="15" type="body"/>
          </p:nvPr>
        </p:nvSpPr>
        <p:spPr>
          <a:xfrm>
            <a:off x="879481" y="3261944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5" name="Google Shape;265;g284d08330cf_0_50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лайд qr">
  <p:cSld name="Финальный слайд_1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2870f9e6fac_0_71"/>
          <p:cNvSpPr/>
          <p:nvPr/>
        </p:nvSpPr>
        <p:spPr>
          <a:xfrm>
            <a:off x="7997251" y="586452"/>
            <a:ext cx="3600000" cy="3600000"/>
          </a:xfrm>
          <a:prstGeom prst="roundRect">
            <a:avLst>
              <a:gd fmla="val 839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logica Light"/>
              <a:ea typeface="Geologica Light"/>
              <a:cs typeface="Geologica Light"/>
              <a:sym typeface="Geologica Light"/>
            </a:endParaRPr>
          </a:p>
        </p:txBody>
      </p:sp>
      <p:sp>
        <p:nvSpPr>
          <p:cNvPr id="268" name="Google Shape;268;g2870f9e6fac_0_71"/>
          <p:cNvSpPr txBox="1"/>
          <p:nvPr>
            <p:ph idx="1" type="body"/>
          </p:nvPr>
        </p:nvSpPr>
        <p:spPr>
          <a:xfrm>
            <a:off x="587375" y="4171415"/>
            <a:ext cx="6531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9" name="Google Shape;269;g2870f9e6fac_0_71"/>
          <p:cNvSpPr txBox="1"/>
          <p:nvPr>
            <p:ph type="title"/>
          </p:nvPr>
        </p:nvSpPr>
        <p:spPr>
          <a:xfrm>
            <a:off x="587376" y="586452"/>
            <a:ext cx="6531000" cy="28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70" name="Google Shape;270;g2870f9e6fac_0_71"/>
          <p:cNvSpPr txBox="1"/>
          <p:nvPr>
            <p:ph idx="2" type="body"/>
          </p:nvPr>
        </p:nvSpPr>
        <p:spPr>
          <a:xfrm>
            <a:off x="8183217" y="5870781"/>
            <a:ext cx="34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1" name="Google Shape;271;g2870f9e6fac_0_71"/>
          <p:cNvSpPr/>
          <p:nvPr>
            <p:ph idx="3" type="pic"/>
          </p:nvPr>
        </p:nvSpPr>
        <p:spPr>
          <a:xfrm>
            <a:off x="8192551" y="781752"/>
            <a:ext cx="3209400" cy="32094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sp>
      <p:sp>
        <p:nvSpPr>
          <p:cNvPr id="272" name="Google Shape;272;g2870f9e6fac_0_71"/>
          <p:cNvSpPr txBox="1"/>
          <p:nvPr>
            <p:ph idx="4" type="body"/>
          </p:nvPr>
        </p:nvSpPr>
        <p:spPr>
          <a:xfrm>
            <a:off x="594748" y="4598572"/>
            <a:ext cx="6523627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73" name="Google Shape;273;g2870f9e6fac_0_7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+скриншот">
  <p:cSld name="Заголовок+скриншот"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81"/>
          <p:cNvSpPr/>
          <p:nvPr>
            <p:ph idx="2" type="pic"/>
          </p:nvPr>
        </p:nvSpPr>
        <p:spPr>
          <a:xfrm>
            <a:off x="587375" y="2020957"/>
            <a:ext cx="11017251" cy="4144893"/>
          </a:xfrm>
          <a:prstGeom prst="rect">
            <a:avLst/>
          </a:prstGeom>
          <a:noFill/>
          <a:ln>
            <a:noFill/>
          </a:ln>
        </p:spPr>
      </p:sp>
      <p:sp>
        <p:nvSpPr>
          <p:cNvPr id="276" name="Google Shape;276;p81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азноформатные скрины">
  <p:cSld name="Разноформатные скрины"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04"/>
          <p:cNvSpPr/>
          <p:nvPr>
            <p:ph idx="2" type="pic"/>
          </p:nvPr>
        </p:nvSpPr>
        <p:spPr>
          <a:xfrm>
            <a:off x="7004304" y="584200"/>
            <a:ext cx="4600320" cy="5581650"/>
          </a:xfrm>
          <a:prstGeom prst="roundRect">
            <a:avLst>
              <a:gd fmla="val 3731" name="adj"/>
            </a:avLst>
          </a:prstGeom>
          <a:solidFill>
            <a:schemeClr val="lt1"/>
          </a:solidFill>
          <a:ln cap="flat" cmpd="sng" w="19050">
            <a:solidFill>
              <a:schemeClr val="dk1">
                <a:alpha val="20000"/>
              </a:schemeClr>
            </a:solidFill>
            <a:prstDash val="solid"/>
            <a:round/>
            <a:headEnd len="sm" w="sm" type="none"/>
            <a:tailEnd len="sm" w="sm" type="none"/>
          </a:ln>
          <a:effectLst>
            <a:outerShdw blurRad="317500" rotWithShape="0" algn="ctr" dir="5400000" dist="63500">
              <a:srgbClr val="FDFFFD">
                <a:alpha val="20000"/>
              </a:srgbClr>
            </a:outerShdw>
          </a:effectLst>
        </p:spPr>
      </p:sp>
      <p:sp>
        <p:nvSpPr>
          <p:cNvPr id="279" name="Google Shape;279;p104"/>
          <p:cNvSpPr/>
          <p:nvPr>
            <p:ph idx="3" type="pic"/>
          </p:nvPr>
        </p:nvSpPr>
        <p:spPr>
          <a:xfrm>
            <a:off x="587374" y="584200"/>
            <a:ext cx="6069458" cy="3603752"/>
          </a:xfrm>
          <a:prstGeom prst="roundRect">
            <a:avLst>
              <a:gd fmla="val 5374" name="adj"/>
            </a:avLst>
          </a:prstGeom>
          <a:solidFill>
            <a:schemeClr val="lt1"/>
          </a:solidFill>
          <a:ln cap="flat" cmpd="sng" w="19050">
            <a:solidFill>
              <a:schemeClr val="dk1">
                <a:alpha val="20000"/>
              </a:schemeClr>
            </a:solidFill>
            <a:prstDash val="solid"/>
            <a:round/>
            <a:headEnd len="sm" w="sm" type="none"/>
            <a:tailEnd len="sm" w="sm" type="none"/>
          </a:ln>
          <a:effectLst>
            <a:outerShdw blurRad="317500" rotWithShape="0" algn="ctr" dir="5400000" dist="63500">
              <a:srgbClr val="FDFFFD">
                <a:alpha val="20000"/>
              </a:srgbClr>
            </a:outerShdw>
          </a:effectLst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тезиса на слайде">
  <p:cSld name="2 тезиса на слайде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4"/>
          <p:cNvSpPr txBox="1"/>
          <p:nvPr>
            <p:ph idx="1" type="body"/>
          </p:nvPr>
        </p:nvSpPr>
        <p:spPr>
          <a:xfrm>
            <a:off x="587375" y="1115711"/>
            <a:ext cx="6943247" cy="1588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2" name="Google Shape;282;p54"/>
          <p:cNvSpPr txBox="1"/>
          <p:nvPr>
            <p:ph idx="2" type="body"/>
          </p:nvPr>
        </p:nvSpPr>
        <p:spPr>
          <a:xfrm>
            <a:off x="4663429" y="3429000"/>
            <a:ext cx="6943247" cy="1588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 фото вертик">
  <p:cSld name="1_ фото вертик"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68"/>
          <p:cNvSpPr txBox="1"/>
          <p:nvPr>
            <p:ph idx="1" type="body"/>
          </p:nvPr>
        </p:nvSpPr>
        <p:spPr>
          <a:xfrm>
            <a:off x="587376" y="2528888"/>
            <a:ext cx="7127874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5" name="Google Shape;285;p68"/>
          <p:cNvSpPr txBox="1"/>
          <p:nvPr>
            <p:ph type="title"/>
          </p:nvPr>
        </p:nvSpPr>
        <p:spPr>
          <a:xfrm>
            <a:off x="587376" y="584200"/>
            <a:ext cx="7127874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86" name="Google Shape;286;p68"/>
          <p:cNvSpPr/>
          <p:nvPr>
            <p:ph idx="2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 1 1">
  <p:cSld name="2 фото_2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84d08330cf_0_20"/>
          <p:cNvSpPr/>
          <p:nvPr>
            <p:ph idx="2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89" name="Google Shape;289;g284d08330cf_0_20"/>
          <p:cNvSpPr/>
          <p:nvPr>
            <p:ph idx="3" type="pic"/>
          </p:nvPr>
        </p:nvSpPr>
        <p:spPr>
          <a:xfrm>
            <a:off x="587375" y="587376"/>
            <a:ext cx="723884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 в 3 колонки">
  <p:cSld name="Заголовок + текст в 3 колонки"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83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92" name="Google Shape;292;p83"/>
          <p:cNvSpPr txBox="1"/>
          <p:nvPr>
            <p:ph idx="1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3" name="Google Shape;293;p83"/>
          <p:cNvSpPr txBox="1"/>
          <p:nvPr>
            <p:ph idx="2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4" name="Google Shape;294;p83"/>
          <p:cNvSpPr txBox="1"/>
          <p:nvPr>
            <p:ph idx="3" type="body"/>
          </p:nvPr>
        </p:nvSpPr>
        <p:spPr>
          <a:xfrm>
            <a:off x="58632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фактов 1">
  <p:cSld name="5 фактов_1"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5a462c06d0_0_610"/>
          <p:cNvSpPr txBox="1"/>
          <p:nvPr>
            <p:ph idx="1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7" name="Google Shape;297;g35a462c06d0_0_610"/>
          <p:cNvSpPr txBox="1"/>
          <p:nvPr>
            <p:ph idx="2" type="body"/>
          </p:nvPr>
        </p:nvSpPr>
        <p:spPr>
          <a:xfrm>
            <a:off x="8148863" y="1382737"/>
            <a:ext cx="6483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298" name="Google Shape;298;g35a462c06d0_0_610"/>
          <p:cNvSpPr txBox="1"/>
          <p:nvPr>
            <p:ph type="title"/>
          </p:nvPr>
        </p:nvSpPr>
        <p:spPr>
          <a:xfrm>
            <a:off x="587375" y="584200"/>
            <a:ext cx="110172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99" name="Google Shape;299;g35a462c06d0_0_610"/>
          <p:cNvSpPr txBox="1"/>
          <p:nvPr>
            <p:ph idx="3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0" name="Google Shape;300;g35a462c06d0_0_610"/>
          <p:cNvSpPr txBox="1"/>
          <p:nvPr>
            <p:ph idx="4" type="body"/>
          </p:nvPr>
        </p:nvSpPr>
        <p:spPr>
          <a:xfrm>
            <a:off x="586013" y="1382737"/>
            <a:ext cx="6483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301" name="Google Shape;301;g35a462c06d0_0_610"/>
          <p:cNvSpPr txBox="1"/>
          <p:nvPr>
            <p:ph idx="5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2" name="Google Shape;302;g35a462c06d0_0_610"/>
          <p:cNvSpPr txBox="1"/>
          <p:nvPr>
            <p:ph idx="6" type="body"/>
          </p:nvPr>
        </p:nvSpPr>
        <p:spPr>
          <a:xfrm>
            <a:off x="586013" y="3809879"/>
            <a:ext cx="6483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 SemiBold"/>
              <a:buNone/>
              <a:defRPr sz="6000">
                <a:solidFill>
                  <a:schemeClr val="accen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303" name="Google Shape;303;g35a462c06d0_0_610"/>
          <p:cNvSpPr txBox="1"/>
          <p:nvPr>
            <p:ph idx="7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g35a462c06d0_0_610"/>
          <p:cNvSpPr txBox="1"/>
          <p:nvPr>
            <p:ph idx="8" type="body"/>
          </p:nvPr>
        </p:nvSpPr>
        <p:spPr>
          <a:xfrm>
            <a:off x="437696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05" name="Google Shape;305;g35a462c06d0_0_610"/>
          <p:cNvSpPr txBox="1"/>
          <p:nvPr>
            <p:ph idx="9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6" name="Google Shape;306;g35a462c06d0_0_610"/>
          <p:cNvSpPr txBox="1"/>
          <p:nvPr>
            <p:ph idx="13" type="body"/>
          </p:nvPr>
        </p:nvSpPr>
        <p:spPr>
          <a:xfrm>
            <a:off x="4376962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8"/>
          <p:cNvSpPr txBox="1"/>
          <p:nvPr>
            <p:ph type="title"/>
          </p:nvPr>
        </p:nvSpPr>
        <p:spPr>
          <a:xfrm>
            <a:off x="587375" y="584200"/>
            <a:ext cx="11017249" cy="1106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Montserrat"/>
              <a:buNone/>
              <a:defRPr b="1" i="0" sz="4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8"/>
          <p:cNvSpPr txBox="1"/>
          <p:nvPr>
            <p:ph idx="1" type="body"/>
          </p:nvPr>
        </p:nvSpPr>
        <p:spPr>
          <a:xfrm>
            <a:off x="587375" y="1825625"/>
            <a:ext cx="11017249" cy="4340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Char char="•"/>
              <a:defRPr b="0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Char char="⏤"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⏤"/>
              <a:defRPr b="0" i="0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Char char="⏤"/>
              <a:defRPr b="0" i="0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" name="Google Shape;12;p48"/>
          <p:cNvSpPr txBox="1"/>
          <p:nvPr>
            <p:ph idx="10" type="dt"/>
          </p:nvPr>
        </p:nvSpPr>
        <p:spPr>
          <a:xfrm>
            <a:off x="587375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3" name="Google Shape;13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4" name="Google Shape;14;p48"/>
          <p:cNvSpPr txBox="1"/>
          <p:nvPr>
            <p:ph idx="12" type="sldNum"/>
          </p:nvPr>
        </p:nvSpPr>
        <p:spPr>
          <a:xfrm>
            <a:off x="886142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368">
          <p15:clr>
            <a:srgbClr val="F26B43"/>
          </p15:clr>
        </p15:guide>
        <p15:guide id="2" pos="370">
          <p15:clr>
            <a:srgbClr val="F26B43"/>
          </p15:clr>
        </p15:guide>
        <p15:guide id="3" pos="7310">
          <p15:clr>
            <a:srgbClr val="F26B43"/>
          </p15:clr>
        </p15:guide>
        <p15:guide id="4" orient="horz" pos="388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/>
        </p:txBody>
      </p:sp>
      <p:sp>
        <p:nvSpPr>
          <p:cNvPr id="6" name="Picture Placeholder 5"/>
          <p:cNvSpPr>
            <a:spLocks noGrp="1"/>
          </p:cNvSpPr>
          <p:nvPr>
            <p:ph type="pic" idx="4"/>
          </p:nvPr>
        </p:nvSpPr>
        <p:spPr/>
        <p:txBody>
          <a:bodyPr/>
          <a:p/>
        </p:txBody>
      </p:sp>
      <p:sp>
        <p:nvSpPr>
          <p:cNvPr id="7" name="TextBox 6"/>
          <p:cNvSpPr txBox="1"/>
          <p:nvPr/>
        </p:nvSpPr>
        <p:spPr>
          <a:xfrm>
            <a:off x="720000" y="1260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КВАРТАЛЬНЫЙ ОТЧЁТ ПО ПРОДАЖАМ · КОНТУР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6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000000"/>
                </a:solidFill>
                <a:latin typeface="Montserrat"/>
              </a:rPr>
              <a:t>Итоги Q1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06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3"/>
                </a:solidFill>
                <a:latin typeface="Montserrat"/>
              </a:rPr>
              <a:t>Розница · Общепит · Кассы · ОФД · Маркет · Контекстная реклама · прогноз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4680000"/>
            <a:ext cx="25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Период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4968000"/>
            <a:ext cx="2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Montserrat"/>
              </a:rPr>
              <a:t>Q1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0000" y="4680000"/>
            <a:ext cx="25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Сравнение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0000" y="4968000"/>
            <a:ext cx="2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Montserrat"/>
              </a:rPr>
              <a:t>Q4 2025 · Q1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0000" y="4680000"/>
            <a:ext cx="25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Выручка факт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0000" y="4968000"/>
            <a:ext cx="2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Montserrat"/>
              </a:rPr>
              <a:t>68,2 млн 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0000" y="4680000"/>
            <a:ext cx="25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Выполнение плана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0000" y="4968000"/>
            <a:ext cx="2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Montserrat"/>
              </a:rPr>
              <a:t>92%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0000" y="6318000"/>
            <a:ext cx="10753200" cy="0"/>
          </a:xfrm>
          <a:prstGeom prst="line">
            <a:avLst/>
          </a:prstGeom>
          <a:ln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20000" y="6390000"/>
            <a:ext cx="72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Контур · продажи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33200" y="6390000"/>
            <a:ext cx="14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A6573"/>
                </a:solidFill>
                <a:latin typeface="Montserrat"/>
              </a:rPr>
              <a:t>сформировано 13.06.2026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0000" y="432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ОБЗОР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7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Montserrat"/>
              </a:rPr>
              <a:t>Ключевые метрики квартала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Выручка факт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68,2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92% от плана 74,6 млн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43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43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Кол-во оплат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43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6 859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43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план 6 773 · 101%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86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86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Средний чек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86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9,9 тыс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86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факт / кол-во оплат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29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9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Недобор к плану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9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−6,3 млн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29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в основном март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3456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ПЛАН VS ФАКТ ПО МЕСЯЦАМ, МЛН ₽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20000" y="3708000"/>
          <a:ext cx="5400000" cy="25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480000" y="3456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ВЫРУЧКА ПО НАПРАВЛЕНИЯМ, Q1 2026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480000" y="3708000"/>
          <a:ext cx="504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0000"/>
                <a:gridCol w="1680000"/>
                <a:gridCol w="1680000"/>
              </a:tblGrid>
              <a:tr h="504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Направление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Выручка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Доля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</a:tr>
              <a:tr h="504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Розница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~32,5 млн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48%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Кассы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~22,2 млн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33%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504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Общепит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~12,8 млн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19%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в т.ч. ОФД (продукт)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11,7 млн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17%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cxnSp>
        <p:nvCxnSpPr>
          <p:cNvPr id="26" name="Connector 25"/>
          <p:cNvCxnSpPr/>
          <p:nvPr/>
        </p:nvCxnSpPr>
        <p:spPr>
          <a:xfrm>
            <a:off x="720000" y="6318000"/>
            <a:ext cx="10753200" cy="0"/>
          </a:xfrm>
          <a:prstGeom prst="line">
            <a:avLst/>
          </a:prstGeom>
          <a:ln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20000" y="6390000"/>
            <a:ext cx="72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Царь свод (план-факт) + Царь продажи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0000" y="432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ПОМЕСЯЧНАЯ ДИНАМИКА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7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Montserrat"/>
              </a:rPr>
              <a:t>Бизнес-юнит: план и факт по месяцам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20000" y="1655999"/>
          <a:ext cx="5760000" cy="43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40000" y="1655999"/>
          <a:ext cx="46800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0000"/>
                <a:gridCol w="1170000"/>
                <a:gridCol w="1170000"/>
                <a:gridCol w="1170000"/>
              </a:tblGrid>
              <a:tr h="396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Месяц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План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Факт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%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</a:tr>
              <a:tr h="396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Январь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22,33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21,12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95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Февраль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24,75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23,69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96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396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Март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27,47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23,42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85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Итого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74,56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68,23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92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40000" y="3960000"/>
            <a:ext cx="46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ontserrat"/>
              </a:rPr>
              <a:t>• Январь–февраль удерживаем 95–96% плана.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0" y="4536000"/>
            <a:ext cx="46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ontserrat"/>
              </a:rPr>
              <a:t>• Март — провал до 85%: план вырос до 27,5 млн, факт — на уровне февраля.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0" y="5112000"/>
            <a:ext cx="46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ontserrat"/>
              </a:rPr>
              <a:t>• Февраль перевыполнили по оплатам (2 510 vs 2 222) — выручку тянет вниз средний чек.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0000" y="6318000"/>
            <a:ext cx="10753200" cy="0"/>
          </a:xfrm>
          <a:prstGeom prst="line">
            <a:avLst/>
          </a:prstGeom>
          <a:ln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0000" y="6390000"/>
            <a:ext cx="72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Царь свод все разрезы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53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12000" y="540000"/>
            <a:ext cx="252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0" b="1">
                <a:solidFill>
                  <a:srgbClr val="2A4C8E"/>
                </a:solidFill>
                <a:latin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160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РАЗДЕЛ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520000"/>
            <a:ext cx="72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Montserrat"/>
              </a:rPr>
              <a:t>Направления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4320000"/>
            <a:ext cx="79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DBF5"/>
                </a:solidFill>
                <a:latin typeface="Montserrat"/>
              </a:rPr>
              <a:t>Розница · Общепит · Кассы · ОФД — выручка, динамика QoQ/YoY и ключевые тарифы.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0000" y="432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НАПРАВЛЕНИЕ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7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Montserrat"/>
              </a:rPr>
              <a:t>Розница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Выручка Q1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~32,5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48% БЮ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43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43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Доля направления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43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48%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43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крупнейшее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86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86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Топ-тариф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86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Оптим. Розница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86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6,66 млн · +9% QoQ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29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9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Под давлением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9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Все госсистемы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29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3,47 млн · −13% YoY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3456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ТАРИФЫ В Q1 2026, МЛН ₽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20000" y="3708000"/>
          <a:ext cx="1080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800000"/>
                <a:gridCol w="1800000"/>
                <a:gridCol w="1800000"/>
                <a:gridCol w="1800000"/>
                <a:gridCol w="1800000"/>
              </a:tblGrid>
              <a:tr h="42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</a:tr>
              <a:tr h="42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Розница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7,13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6,13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6,66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+9%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Все госсистемы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3,97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3,80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3,47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−9%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−13%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42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Розница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1,89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1,41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−11%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−25%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Премиум Розница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1,64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1,13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0,95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−16%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−42%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42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Маркировка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3,26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1,86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−43%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+34%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4" name="Connector 23"/>
          <p:cNvCxnSpPr/>
          <p:nvPr/>
        </p:nvCxnSpPr>
        <p:spPr>
          <a:xfrm>
            <a:off x="720000" y="6318000"/>
            <a:ext cx="10753200" cy="0"/>
          </a:xfrm>
          <a:prstGeom prst="line">
            <a:avLst/>
          </a:prstGeom>
          <a:ln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20000" y="6390000"/>
            <a:ext cx="72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Царь продажи · Бизнес-юнит = Госсистемы для розницы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0000" y="432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НАПРАВЛЕНИЕ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7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Montserrat"/>
              </a:rPr>
              <a:t>Общепит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Выручка Q1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~12,8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19% БЮ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43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43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Доля направления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43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43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третье по объёму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86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86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Топ-тариф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86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Оптим. Общепит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86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1,29 млн · +44% QoQ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29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9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Динамика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9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растёт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29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+8% YoY по топ-тарифу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3456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ТАРИФЫ В Q1 2026, МЛН ₽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20000" y="3708000"/>
          <a:ext cx="1080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800000"/>
                <a:gridCol w="1800000"/>
                <a:gridCol w="1800000"/>
                <a:gridCol w="1800000"/>
                <a:gridCol w="1800000"/>
              </a:tblGrid>
              <a:tr h="63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</a:tr>
              <a:tr h="63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Общепит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1,20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0,89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1,29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+44%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+8%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КМ модификатор ЕГАИС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1,17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0,99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1,09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+10%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63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Общепит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0,49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·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·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4" name="Connector 23"/>
          <p:cNvCxnSpPr/>
          <p:nvPr/>
        </p:nvCxnSpPr>
        <p:spPr>
          <a:xfrm>
            <a:off x="720000" y="6318000"/>
            <a:ext cx="10753200" cy="0"/>
          </a:xfrm>
          <a:prstGeom prst="line">
            <a:avLst/>
          </a:prstGeom>
          <a:ln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20000" y="6390000"/>
            <a:ext cx="72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Царь продажи · Бизнес-юнит = Госсистемы для общепита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0000" y="432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НАПРАВЛЕНИЕ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7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Montserrat"/>
              </a:rPr>
              <a:t>Кассы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Выручка Q1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~22,2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33% БЮ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43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43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Доля направления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43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33%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43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второе по объёму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86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86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Топ-тариф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86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Терминал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86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2,75 млн · +29% QoQ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29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9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Растущее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9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Перерег. ККТ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29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1,56 млн · +48% YoY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3456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ТАРИФЫ В Q1 2026, МЛН ₽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20000" y="3708000"/>
          <a:ext cx="1080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800000"/>
                <a:gridCol w="1800000"/>
                <a:gridCol w="1800000"/>
                <a:gridCol w="1800000"/>
                <a:gridCol w="1800000"/>
              </a:tblGrid>
              <a:tr h="36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</a:tr>
              <a:tr h="36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Терминал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2,63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2,14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2,75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+5%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Модификатор Маркировка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2,46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2,30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2,55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+11%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+4%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36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Лицензия Атол ИТС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1,23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+14%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Перерегистрация ККТ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1,05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1,30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1,56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+20%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+48%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36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Атол ИТС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1,48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1,00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1,24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−17%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Сканер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1,21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1,37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1,16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−15%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−5%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cxnSp>
        <p:nvCxnSpPr>
          <p:cNvPr id="24" name="Connector 23"/>
          <p:cNvCxnSpPr/>
          <p:nvPr/>
        </p:nvCxnSpPr>
        <p:spPr>
          <a:xfrm>
            <a:off x="720000" y="6318000"/>
            <a:ext cx="10753200" cy="0"/>
          </a:xfrm>
          <a:prstGeom prst="line">
            <a:avLst/>
          </a:prstGeom>
          <a:ln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20000" y="6390000"/>
            <a:ext cx="72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Царь продажи · Бизнес-юнит = Кассовики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0000" y="432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НАПРАВЛЕНИЕ · ПРОДУКТОВЫЙ СРЕЗ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7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Montserrat"/>
              </a:rPr>
              <a:t>ОФД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Выручка Q1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11,69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+4,2% к Q4 2025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43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43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YoY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43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−4,9%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43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было 12,28 млн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86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86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Кол-во оплат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86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2 122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86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+49 к Q4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29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9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Средний чек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9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5,5 тыс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29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11,69 / 2 122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3456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ВЫРУЧКА ПО МЕСЯЦАМ Q1, МЛН ₽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20000" y="3708000"/>
          <a:ext cx="5400000" cy="25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480000" y="3456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ТОП ТАРИФОВ, МЛН ₽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480000" y="3708000"/>
          <a:ext cx="504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2520000"/>
              </a:tblGrid>
              <a:tr h="42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</a:tr>
              <a:tr h="42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ОФД-36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3,93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ОФД-15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3,73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42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ОФД-13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3,38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ОФД-24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0,46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4200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Прочие ОФД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0,19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6" name="Connector 25"/>
          <p:cNvCxnSpPr/>
          <p:nvPr/>
        </p:nvCxnSpPr>
        <p:spPr>
          <a:xfrm>
            <a:off x="720000" y="6318000"/>
            <a:ext cx="10753200" cy="0"/>
          </a:xfrm>
          <a:prstGeom prst="line">
            <a:avLst/>
          </a:prstGeom>
          <a:ln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20000" y="6390000"/>
            <a:ext cx="72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Царь продажи · Тариф содержит «ОФД»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0000" y="432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ТАРИФЫ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7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Montserrat"/>
              </a:rPr>
              <a:t>Топ-20 тарифов: QoQ и YoY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0000" y="1440000"/>
          <a:ext cx="1080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800000"/>
                <a:gridCol w="1800000"/>
                <a:gridCol w="1800000"/>
                <a:gridCol w="1800000"/>
                <a:gridCol w="1800000"/>
              </a:tblGrid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marL="54000" marR="54000" marT="36000" marB="36000">
                    <a:solidFill>
                      <a:srgbClr val="2291FF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Прочие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26,63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21,26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14,96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−30%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−44%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Розница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7,13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6,13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6,66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+9%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ОФД-36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4,77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4,79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3,93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−18%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−18%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ОФД-15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4,17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3,00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3,73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−11%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Все госсистемы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3,97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3,80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3,47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−9%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−13%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ОФД-13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2,72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2,73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3,38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Настройка Контур.Маркет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1,45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2,93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+102%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+85%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Терминал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2,63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2,14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2,75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+5%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Модификатор Маркировка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2,46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2,30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2,55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+11%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+4%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Маркировка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3,26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1,86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−43%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+34%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Лицензия Атол ИТС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1,23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+14%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Перерегистрация ККТ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1,05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1,30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1,56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+20%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+48%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Розница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1,89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1,41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−11%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−25%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Общепит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1,20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0,89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1,29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+44%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+8%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Атол ИТС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1,48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1,00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1,24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−17%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Сертификат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0,86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0,66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1,23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+88%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+43%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Сканер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1,21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1,37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1,16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−15%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−5%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КМ модификатор ЕГАИС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1,17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0,99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1,09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+10%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  <a:tr h="2314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Премиум Розница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1,64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1,13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0,95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−16%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−42%</a:t>
                      </a:r>
                    </a:p>
                  </a:txBody>
                  <a:tcPr marL="54000" marR="54000" marT="21600" marB="21600">
                    <a:solidFill>
                      <a:srgbClr val="FFFFFF"/>
                    </a:solidFill>
                  </a:tcPr>
                </a:tc>
              </a:tr>
              <a:tr h="23144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Услуги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1,04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0,67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0,86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−18%</a:t>
                      </a:r>
                    </a:p>
                  </a:txBody>
                  <a:tcPr marL="54000" marR="54000" marT="21600" marB="216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720000" y="6318000"/>
            <a:ext cx="10753200" cy="0"/>
          </a:xfrm>
          <a:prstGeom prst="line">
            <a:avLst/>
          </a:prstGeom>
          <a:ln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20000" y="6390000"/>
            <a:ext cx="72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Царь продажи · группировка по тарифу, млн 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53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12000" y="540000"/>
            <a:ext cx="252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0" b="1">
                <a:solidFill>
                  <a:srgbClr val="2A4C8E"/>
                </a:solidFill>
                <a:latin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160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РАЗДЕЛ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520000"/>
            <a:ext cx="792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Montserrat"/>
              </a:rPr>
              <a:t>Прогноз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4140000"/>
            <a:ext cx="79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8FC4FF"/>
                </a:solidFill>
                <a:latin typeface="Montserrat"/>
              </a:rPr>
              <a:t>Маркет и ОФД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4860000"/>
            <a:ext cx="79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DBF5"/>
                </a:solidFill>
                <a:latin typeface="Montserrat"/>
              </a:rPr>
              <a:t>Ансамбль моделей: plan-pacing · сезонный YoY · ETS · регрессия. Факт по май, прогноз июнь–декабрь, сценарии низ/база/верх.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0000" y="432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ПРОГНОЗ · ВЫРУЧКА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7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Montserrat"/>
              </a:rPr>
              <a:t>Маркет — выполнение плана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Годовой 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119,0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Продукт = Маркет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43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43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Факт за 5 мес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43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44,5 млн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43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91% от плана периода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86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86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YoY к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86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−21%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86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падение спроса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29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9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Прогноз года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9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86%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29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102 млн · 78–91%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720000" y="3600000"/>
          <a:ext cx="10800000" cy="27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720000" y="6318000"/>
            <a:ext cx="10753200" cy="0"/>
          </a:xfrm>
          <a:prstGeom prst="line">
            <a:avLst/>
          </a:prstGeom>
          <a:ln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20000" y="6390000"/>
            <a:ext cx="72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план-факт «Продукт = Маркет» · ансамбль моделей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0000" y="432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ПРОГНОЗ · ВЫРУЧКА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7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Montserrat"/>
              </a:rPr>
              <a:t>ОФД — выполнение плана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Годовой 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37,5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проект п453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43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43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Факт за 5 мес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43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18,9 млн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43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123% от плана периода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86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86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YoY к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86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−16%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86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но план консервативен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29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9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Прогноз года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9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29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43,3 млн · 103–124%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720000" y="3600000"/>
          <a:ext cx="10800000" cy="27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720000" y="6318000"/>
            <a:ext cx="10753200" cy="0"/>
          </a:xfrm>
          <a:prstGeom prst="line">
            <a:avLst/>
          </a:prstGeom>
          <a:ln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20000" y="6390000"/>
            <a:ext cx="72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план-факт проект п453 · ансамбль моделей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53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12000" y="540000"/>
            <a:ext cx="252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0" b="1">
                <a:solidFill>
                  <a:srgbClr val="2A4C8E"/>
                </a:solidFill>
                <a:latin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160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РАЗДЕЛ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520000"/>
            <a:ext cx="792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ontserrat"/>
              </a:rPr>
              <a:t>Контекстная реклама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4680000"/>
            <a:ext cx="79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DBF5"/>
                </a:solidFill>
                <a:latin typeface="Montserrat"/>
              </a:rPr>
              <a:t>Расход, CPL, CPO и привлечённые оплаты по Маркету и ОФД. Данные с дашбордов кампаний, янв 2025 – май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0000" y="432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КОНТЕКСТ · МАРКЕТ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7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Montserrat"/>
              </a:rPr>
              <a:t>Маркет — эффективность контекста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Расход всего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14,7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янв 2025 – май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43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43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Оплаты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43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315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43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привлечено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86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86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CPO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86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46,8 тыс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86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высокая стоимость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29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9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CPL средн.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9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10,0 тыс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29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снижается к 2026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720000" y="3708000"/>
          <a:ext cx="5400000" cy="25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480000" y="3708000"/>
          <a:ext cx="5040000" cy="252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4" name="Connector 23"/>
          <p:cNvCxnSpPr/>
          <p:nvPr/>
        </p:nvCxnSpPr>
        <p:spPr>
          <a:xfrm>
            <a:off x="720000" y="6318000"/>
            <a:ext cx="10753200" cy="0"/>
          </a:xfrm>
          <a:prstGeom prst="line">
            <a:avLst/>
          </a:prstGeom>
          <a:ln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20000" y="6390000"/>
            <a:ext cx="72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дашборд Контекст-Маркет · суммы сверены с «Итого»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0000" y="432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КОНТЕКСТ · ОФД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7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Montserrat"/>
              </a:rPr>
              <a:t>ОФД — эффективность контекста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Расход всего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7,1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янв 2025 – май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43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43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Оплаты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43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397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43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привлечено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86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86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CPO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86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17,9 тыс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86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в 2,6× дешевле Маркета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2900" y="1800000"/>
            <a:ext cx="2580300" cy="14400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900" y="19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CPL средн.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900" y="2268000"/>
            <a:ext cx="22203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4,5 тыс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2900" y="2880000"/>
            <a:ext cx="22203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эффективнее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720000" y="3708000"/>
          <a:ext cx="5400000" cy="25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480000" y="3708000"/>
          <a:ext cx="5040000" cy="252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4" name="Connector 23"/>
          <p:cNvCxnSpPr/>
          <p:nvPr/>
        </p:nvCxnSpPr>
        <p:spPr>
          <a:xfrm>
            <a:off x="720000" y="6318000"/>
            <a:ext cx="10753200" cy="0"/>
          </a:xfrm>
          <a:prstGeom prst="line">
            <a:avLst/>
          </a:prstGeom>
          <a:ln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20000" y="6390000"/>
            <a:ext cx="72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дашборд Контекст-ОФД · суммы сверены с «Итого»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5" name="Picture Placeholder 4"/>
          <p:cNvSpPr>
            <a:spLocks noGrp="1"/>
          </p:cNvSpPr>
          <p:nvPr>
            <p:ph type="pic" idx="3"/>
          </p:nvPr>
        </p:nvSpPr>
        <p:spPr/>
        <p:txBody>
          <a:bodyPr/>
          <a:p/>
        </p:txBody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20000" y="720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СПАСИБО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080000"/>
            <a:ext cx="72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  <a:latin typeface="Montserrat"/>
              </a:rPr>
              <a:t>Итоги Q1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06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3"/>
                </a:solidFill>
                <a:latin typeface="Montserrat"/>
              </a:rPr>
              <a:t>Сводка собрана автоматически из 5 xlsx и дашбордов рекламы.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3960000"/>
            <a:ext cx="10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91FF"/>
                </a:solidFill>
                <a:latin typeface="Montserrat"/>
              </a:rPr>
              <a:t>ВЫВОДЫ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432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ontserrat"/>
              </a:rPr>
              <a:t>• Q1: 92% плана; январь–февраль 95–96%, март провален (85%).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4788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ontserrat"/>
              </a:rPr>
              <a:t>• Маркет: −21% YoY, прогноз 2026 ≈ 86% годового плана — недовыполнение.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5256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ontserrat"/>
              </a:rPr>
              <a:t>• ОФД: факт YTD 123% плана периода, прогноз 2026 ≈ 115% — перевыполнение.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5724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ontserrat"/>
              </a:rPr>
              <a:t>• Реклама: ОФД-контекст в 2,6× эффективнее Маркета по CPO (17,9 тыс vs 46,8 тыс).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heme Montserrat">
  <a:themeElements>
    <a:clrScheme name="Пользовательские 14">
      <a:dk1>
        <a:srgbClr val="000000"/>
      </a:dk1>
      <a:lt1>
        <a:srgbClr val="FEFFFE"/>
      </a:lt1>
      <a:dk2>
        <a:srgbClr val="F1F1F1"/>
      </a:dk2>
      <a:lt2>
        <a:srgbClr val="000000"/>
      </a:lt2>
      <a:accent1>
        <a:srgbClr val="2291FF"/>
      </a:accent1>
      <a:accent2>
        <a:srgbClr val="153177"/>
      </a:accent2>
      <a:accent3>
        <a:srgbClr val="FC7630"/>
      </a:accent3>
      <a:accent4>
        <a:srgbClr val="661429"/>
      </a:accent4>
      <a:accent5>
        <a:srgbClr val="26AD50"/>
      </a:accent5>
      <a:accent6>
        <a:srgbClr val="144942"/>
      </a:accent6>
      <a:hlink>
        <a:srgbClr val="0671F6"/>
      </a:hlink>
      <a:folHlink>
        <a:srgbClr val="0570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2021-03-05T04:34:43Z</dcterms:created>
  <dc:creator>Ольга Преображенская</dc:creator>
</cp:coreProperties>
</file>